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1" r:id="rId1"/>
  </p:sldMasterIdLst>
  <p:notesMasterIdLst>
    <p:notesMasterId r:id="rId9"/>
  </p:notesMasterIdLst>
  <p:handoutMasterIdLst>
    <p:handoutMasterId r:id="rId10"/>
  </p:handoutMasterIdLst>
  <p:sldIdLst>
    <p:sldId id="305" r:id="rId2"/>
    <p:sldId id="371" r:id="rId3"/>
    <p:sldId id="372" r:id="rId4"/>
    <p:sldId id="374" r:id="rId5"/>
    <p:sldId id="373" r:id="rId6"/>
    <p:sldId id="375" r:id="rId7"/>
    <p:sldId id="355" r:id="rId8"/>
  </p:sldIdLst>
  <p:sldSz cx="9144000" cy="6858000" type="screen4x3"/>
  <p:notesSz cx="6805613" cy="99441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Frutiger LT Com 55 Roman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31E1F16-BE99-4DA9-8C2A-02A6A471B66C}">
          <p14:sldIdLst>
            <p14:sldId id="305"/>
            <p14:sldId id="371"/>
            <p14:sldId id="372"/>
            <p14:sldId id="374"/>
            <p14:sldId id="373"/>
            <p14:sldId id="375"/>
            <p14:sldId id="3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793">
          <p15:clr>
            <a:srgbClr val="A4A3A4"/>
          </p15:clr>
        </p15:guide>
        <p15:guide id="2" orient="horz" pos="255">
          <p15:clr>
            <a:srgbClr val="A4A3A4"/>
          </p15:clr>
        </p15:guide>
        <p15:guide id="3" orient="horz" pos="1704">
          <p15:clr>
            <a:srgbClr val="A4A3A4"/>
          </p15:clr>
        </p15:guide>
        <p15:guide id="4" pos="5467">
          <p15:clr>
            <a:srgbClr val="A4A3A4"/>
          </p15:clr>
        </p15:guide>
        <p15:guide id="5" pos="2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9">
          <p15:clr>
            <a:srgbClr val="A4A3A4"/>
          </p15:clr>
        </p15:guide>
        <p15:guide id="2" orient="horz" pos="5875">
          <p15:clr>
            <a:srgbClr val="A4A3A4"/>
          </p15:clr>
        </p15:guide>
        <p15:guide id="3" orient="horz" pos="2218">
          <p15:clr>
            <a:srgbClr val="A4A3A4"/>
          </p15:clr>
        </p15:guide>
        <p15:guide id="4" orient="horz" pos="2081">
          <p15:clr>
            <a:srgbClr val="A4A3A4"/>
          </p15:clr>
        </p15:guide>
        <p15:guide id="5" pos="309">
          <p15:clr>
            <a:srgbClr val="A4A3A4"/>
          </p15:clr>
        </p15:guide>
        <p15:guide id="6" pos="397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E92"/>
    <a:srgbClr val="F67D22"/>
    <a:srgbClr val="4C99B2"/>
    <a:srgbClr val="5CBAA4"/>
    <a:srgbClr val="D4E6F4"/>
    <a:srgbClr val="A2D7CB"/>
    <a:srgbClr val="99C5D3"/>
    <a:srgbClr val="66A8BE"/>
    <a:srgbClr val="B2D3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89" autoAdjust="0"/>
    <p:restoredTop sz="92319" autoAdjust="0"/>
  </p:normalViewPr>
  <p:slideViewPr>
    <p:cSldViewPr>
      <p:cViewPr>
        <p:scale>
          <a:sx n="110" d="100"/>
          <a:sy n="110" d="100"/>
        </p:scale>
        <p:origin x="1764" y="114"/>
      </p:cViewPr>
      <p:guideLst>
        <p:guide orient="horz" pos="3793"/>
        <p:guide orient="horz" pos="255"/>
        <p:guide orient="horz" pos="1704"/>
        <p:guide pos="5467"/>
        <p:guide pos="2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82" d="100"/>
          <a:sy n="82" d="100"/>
        </p:scale>
        <p:origin x="-5898" y="-834"/>
      </p:cViewPr>
      <p:guideLst>
        <p:guide orient="horz" pos="389"/>
        <p:guide orient="horz" pos="5875"/>
        <p:guide orient="horz" pos="2218"/>
        <p:guide orient="horz" pos="2081"/>
        <p:guide pos="309"/>
        <p:guide pos="397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5444" y="1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AA462A89-C98B-47DD-B90F-91A5A53F9B43}" type="datetimeFigureOut">
              <a:rPr lang="de-DE"/>
              <a:pPr>
                <a:defRPr/>
              </a:pPr>
              <a:t>09.02.2025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5444" y="9444976"/>
            <a:ext cx="2948564" cy="497525"/>
          </a:xfrm>
          <a:prstGeom prst="rect">
            <a:avLst/>
          </a:prstGeom>
        </p:spPr>
        <p:txBody>
          <a:bodyPr vert="horz" lIns="92263" tIns="46131" rIns="92263" bIns="46131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/>
            </a:lvl1pPr>
          </a:lstStyle>
          <a:p>
            <a:pPr>
              <a:defRPr/>
            </a:pPr>
            <a:fld id="{7E8CBED8-DC35-4046-95F3-C8A9622E2BA0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84805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91160" y="1"/>
            <a:ext cx="3640361" cy="497525"/>
          </a:xfrm>
          <a:prstGeom prst="rect">
            <a:avLst/>
          </a:prstGeom>
        </p:spPr>
        <p:txBody>
          <a:bodyPr vert="horz" lIns="0" tIns="90810" rIns="92263" bIns="46131" rtlCol="0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858630" y="1"/>
            <a:ext cx="1455823" cy="497525"/>
          </a:xfrm>
          <a:prstGeom prst="rect">
            <a:avLst/>
          </a:prstGeom>
        </p:spPr>
        <p:txBody>
          <a:bodyPr vert="horz" lIns="92263" tIns="90810" rIns="0" bIns="46131" rtlCol="0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D128E39D-64B6-43AA-8112-E8570A28280E}" type="datetimeFigureOut">
              <a:rPr lang="de-DE"/>
              <a:pPr>
                <a:defRPr/>
              </a:pPr>
              <a:t>09.02.2025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95300" y="617538"/>
            <a:ext cx="3582988" cy="2686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63" tIns="46131" rIns="92263" bIns="46131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91160" y="3521070"/>
            <a:ext cx="5823293" cy="5805524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491160" y="9444976"/>
            <a:ext cx="3640361" cy="497525"/>
          </a:xfrm>
          <a:prstGeom prst="rect">
            <a:avLst/>
          </a:prstGeom>
        </p:spPr>
        <p:txBody>
          <a:bodyPr vert="horz" lIns="0" tIns="46131" rIns="92263" bIns="181620" rtlCol="0" anchor="b"/>
          <a:lstStyle>
            <a:lvl1pPr algn="l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858630" y="9444976"/>
            <a:ext cx="1455823" cy="497525"/>
          </a:xfrm>
          <a:prstGeom prst="rect">
            <a:avLst/>
          </a:prstGeom>
        </p:spPr>
        <p:txBody>
          <a:bodyPr vert="horz" lIns="92263" tIns="46131" rIns="0" bIns="181620" rtlCol="0" anchor="b"/>
          <a:lstStyle>
            <a:lvl1pPr algn="r">
              <a:spcAft>
                <a:spcPct val="40000"/>
              </a:spcAft>
              <a:buFont typeface="Wingdings" pitchFamily="2" charset="2"/>
              <a:buNone/>
              <a:defRPr sz="1200">
                <a:latin typeface="Frutiger LT Com 55 Roman" pitchFamily="34" charset="0"/>
              </a:defRPr>
            </a:lvl1pPr>
          </a:lstStyle>
          <a:p>
            <a:pPr>
              <a:defRPr/>
            </a:pPr>
            <a:fld id="{5CE6F52F-4F01-47B4-A1A3-4442B48B2E25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979213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171450" indent="-171450" algn="l" rtl="0" eaLnBrk="0" fontAlgn="base" hangingPunct="0">
      <a:spcBef>
        <a:spcPct val="30000"/>
      </a:spcBef>
      <a:spcAft>
        <a:spcPct val="0"/>
      </a:spcAft>
      <a:buClr>
        <a:srgbClr val="179C7D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1pPr>
    <a:lvl2pPr marL="360363" indent="-184150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2pPr>
    <a:lvl3pPr marL="536575" indent="-176213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3pPr>
    <a:lvl4pPr marL="715963" indent="-17462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4pPr>
    <a:lvl5pPr marL="896938" indent="-180975" algn="l" rtl="0" eaLnBrk="0" fontAlgn="base" hangingPunct="0">
      <a:spcBef>
        <a:spcPct val="30000"/>
      </a:spcBef>
      <a:spcAft>
        <a:spcPct val="0"/>
      </a:spcAft>
      <a:buClr>
        <a:schemeClr val="bg2"/>
      </a:buClr>
      <a:buFont typeface="Wingdings" pitchFamily="2" charset="2"/>
      <a:buChar char="n"/>
      <a:defRPr sz="1200" kern="1200">
        <a:solidFill>
          <a:schemeClr val="tx1"/>
        </a:solidFill>
        <a:latin typeface="Frutiger LT Com 55 Roman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495300" y="617538"/>
            <a:ext cx="3582988" cy="268605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5319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2"/>
          <p:cNvSpPr>
            <a:spLocks noChangeShapeType="1"/>
          </p:cNvSpPr>
          <p:nvPr userDrawn="1"/>
        </p:nvSpPr>
        <p:spPr bwMode="auto">
          <a:xfrm flipV="1">
            <a:off x="466727" y="406400"/>
            <a:ext cx="8207375" cy="0"/>
          </a:xfrm>
          <a:prstGeom prst="line">
            <a:avLst/>
          </a:prstGeom>
          <a:noFill/>
          <a:ln w="508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" name="Line 13"/>
          <p:cNvSpPr>
            <a:spLocks noChangeShapeType="1"/>
          </p:cNvSpPr>
          <p:nvPr userDrawn="1"/>
        </p:nvSpPr>
        <p:spPr bwMode="auto">
          <a:xfrm>
            <a:off x="466727" y="2492375"/>
            <a:ext cx="8207375" cy="0"/>
          </a:xfrm>
          <a:prstGeom prst="line">
            <a:avLst/>
          </a:prstGeom>
          <a:noFill/>
          <a:ln w="1270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6" name="Text Box 19"/>
          <p:cNvSpPr txBox="1">
            <a:spLocks noChangeArrowheads="1"/>
          </p:cNvSpPr>
          <p:nvPr userDrawn="1"/>
        </p:nvSpPr>
        <p:spPr bwMode="auto">
          <a:xfrm>
            <a:off x="455613" y="6432551"/>
            <a:ext cx="900112" cy="1231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1pPr>
            <a:lvl2pPr marL="742950" indent="-28575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2pPr>
            <a:lvl3pPr marL="11430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3pPr>
            <a:lvl4pPr marL="16002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4pPr>
            <a:lvl5pPr marL="2057400" indent="-228600" eaLnBrk="0" hangingPunct="0"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40000"/>
              </a:spcAft>
              <a:buFont typeface="Wingdings" pitchFamily="2" charset="2"/>
              <a:defRPr>
                <a:solidFill>
                  <a:schemeClr val="tx1"/>
                </a:solidFill>
                <a:latin typeface="Frutiger LT Com 55 Roman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ct val="0"/>
              </a:spcAft>
              <a:buFontTx/>
              <a:buNone/>
              <a:defRPr/>
            </a:pPr>
            <a:r>
              <a:rPr lang="de-DE" sz="800" dirty="0">
                <a:solidFill>
                  <a:schemeClr val="bg2"/>
                </a:solidFill>
              </a:rPr>
              <a:t>© Fraunhofer IIS</a:t>
            </a:r>
          </a:p>
        </p:txBody>
      </p:sp>
      <p:sp>
        <p:nvSpPr>
          <p:cNvPr id="7" name="Line 7"/>
          <p:cNvSpPr>
            <a:spLocks noChangeShapeType="1"/>
          </p:cNvSpPr>
          <p:nvPr userDrawn="1"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8" name="Grafik 11" descr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5358031"/>
            <a:ext cx="2686431" cy="73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6725" y="476824"/>
            <a:ext cx="8208000" cy="1008140"/>
          </a:xfrm>
          <a:noFill/>
        </p:spPr>
        <p:txBody>
          <a:bodyPr/>
          <a:lstStyle>
            <a:lvl1pPr marL="0" indent="0">
              <a:defRPr sz="32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1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6725" y="1773238"/>
            <a:ext cx="8208000" cy="64762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noProof="0"/>
              <a:t>Master-Untertitelformat bearbeiten</a:t>
            </a:r>
            <a:endParaRPr lang="de-DE" noProof="0" dirty="0"/>
          </a:p>
        </p:txBody>
      </p:sp>
      <p:pic>
        <p:nvPicPr>
          <p:cNvPr id="13314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9552" y="5373216"/>
            <a:ext cx="2381250" cy="6477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10957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5" y="334800"/>
            <a:ext cx="8208000" cy="369332"/>
          </a:xfrm>
        </p:spPr>
        <p:txBody>
          <a:bodyPr>
            <a:spAutoFit/>
          </a:bodyPr>
          <a:lstStyle>
            <a:lvl1pPr marL="0" indent="0" defTabSz="504000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1773239"/>
            <a:ext cx="8208000" cy="424815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de-DE" dirty="0"/>
          </a:p>
        </p:txBody>
      </p:sp>
      <p:sp>
        <p:nvSpPr>
          <p:cNvPr id="4" name="Textfeld 3"/>
          <p:cNvSpPr txBox="1">
            <a:spLocks noChangeArrowheads="1"/>
          </p:cNvSpPr>
          <p:nvPr userDrawn="1"/>
        </p:nvSpPr>
        <p:spPr bwMode="auto">
          <a:xfrm>
            <a:off x="3852069" y="6515472"/>
            <a:ext cx="1439863" cy="153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Frutiger LT Com 55 Roman" pitchFamily="34" charset="0"/>
                <a:ea typeface="ＭＳ Ｐゴシック" pitchFamily="34" charset="-128"/>
              </a:defRPr>
            </a:lvl9pPr>
          </a:lstStyle>
          <a:p>
            <a:pPr algn="ctr" eaLnBrk="1" hangingPunct="1">
              <a:spcAft>
                <a:spcPct val="40000"/>
              </a:spcAft>
              <a:buFont typeface="Wingdings" pitchFamily="2" charset="2"/>
              <a:buNone/>
            </a:pPr>
            <a:r>
              <a:rPr lang="de-DE" altLang="de-DE" sz="1000" dirty="0">
                <a:solidFill>
                  <a:schemeClr val="tx2"/>
                </a:solidFill>
              </a:rPr>
              <a:t>- </a:t>
            </a:r>
            <a:fld id="{7F804833-AD97-4094-977D-9ACBF24CDD8A}" type="slidenum">
              <a:rPr lang="de-DE" altLang="de-DE" sz="1000" smtClean="0">
                <a:solidFill>
                  <a:schemeClr val="tx2"/>
                </a:solidFill>
              </a:rPr>
              <a:pPr algn="ctr" eaLnBrk="1" hangingPunct="1">
                <a:spcAft>
                  <a:spcPct val="40000"/>
                </a:spcAft>
                <a:buFont typeface="Wingdings" pitchFamily="2" charset="2"/>
                <a:buNone/>
              </a:pPr>
              <a:t>‹Nr.›</a:t>
            </a:fld>
            <a:r>
              <a:rPr lang="de-DE" altLang="de-DE" sz="1000" baseline="0" dirty="0">
                <a:solidFill>
                  <a:schemeClr val="tx2"/>
                </a:solidFill>
              </a:rPr>
              <a:t> -</a:t>
            </a:r>
            <a:endParaRPr lang="de-DE" altLang="de-DE" sz="1000" dirty="0">
              <a:solidFill>
                <a:schemeClr val="tx2"/>
              </a:solidFill>
            </a:endParaRPr>
          </a:p>
        </p:txBody>
      </p:sp>
      <p:sp>
        <p:nvSpPr>
          <p:cNvPr id="5" name="Textfeld 4"/>
          <p:cNvSpPr txBox="1"/>
          <p:nvPr userDrawn="1"/>
        </p:nvSpPr>
        <p:spPr>
          <a:xfrm>
            <a:off x="4272078" y="6279123"/>
            <a:ext cx="10903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chemeClr val="tx2"/>
                </a:solidFill>
              </a:rPr>
              <a:t>Neural</a:t>
            </a:r>
            <a:r>
              <a:rPr lang="de-DE" sz="1000" dirty="0">
                <a:solidFill>
                  <a:schemeClr val="tx2"/>
                </a:solidFill>
              </a:rPr>
              <a:t> Operators</a:t>
            </a:r>
          </a:p>
        </p:txBody>
      </p:sp>
    </p:spTree>
    <p:extLst>
      <p:ext uri="{BB962C8B-B14F-4D97-AF65-F5344CB8AC3E}">
        <p14:creationId xmlns:p14="http://schemas.microsoft.com/office/powerpoint/2010/main" val="15332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66727" y="334963"/>
            <a:ext cx="8207375" cy="122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Mastertitelformat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7" y="1773239"/>
            <a:ext cx="8207375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29" name="Line 7"/>
          <p:cNvSpPr>
            <a:spLocks noChangeShapeType="1"/>
          </p:cNvSpPr>
          <p:nvPr/>
        </p:nvSpPr>
        <p:spPr bwMode="auto">
          <a:xfrm flipV="1">
            <a:off x="469903" y="6165850"/>
            <a:ext cx="8207375" cy="0"/>
          </a:xfrm>
          <a:prstGeom prst="line">
            <a:avLst/>
          </a:prstGeom>
          <a:noFill/>
          <a:ln w="31750">
            <a:solidFill>
              <a:schemeClr val="tx2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de-DE"/>
          </a:p>
        </p:txBody>
      </p:sp>
      <p:pic>
        <p:nvPicPr>
          <p:cNvPr id="1030" name="Grafik 1" descr="Logo_ausgetauscht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164" y="6300789"/>
            <a:ext cx="1417637" cy="387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Logo Friedrich-Alexander-Universität Erlangen-Nürnberg – Technische Fakultät"/>
          <p:cNvPicPr>
            <a:picLocks noChangeAspect="1" noChangeArrowheads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69903" y="6301501"/>
            <a:ext cx="1429411" cy="388800"/>
          </a:xfrm>
          <a:prstGeom prst="rect">
            <a:avLst/>
          </a:prstGeom>
          <a:noFill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0" r:id="rId2"/>
  </p:sldLayoutIdLst>
  <p:hf sldNum="0" hdr="0" ftr="0" dt="0"/>
  <p:txStyles>
    <p:titleStyle>
      <a:lvl1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2pPr>
      <a:lvl3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3pPr>
      <a:lvl4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4pPr>
      <a:lvl5pPr algn="l" defTabSz="503238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Frutiger LT Com 45 Light" pitchFamily="34" charset="0"/>
        </a:defRPr>
      </a:lvl9pPr>
    </p:titleStyle>
    <p:bodyStyle>
      <a:lvl1pPr marL="358775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tx2"/>
        </a:buClr>
        <a:buFont typeface="Wingdings" pitchFamily="2" charset="2"/>
        <a:buChar char="n"/>
        <a:defRPr>
          <a:solidFill>
            <a:schemeClr val="tx1"/>
          </a:solidFill>
          <a:latin typeface="+mn-lt"/>
          <a:ea typeface="+mn-ea"/>
          <a:cs typeface="+mn-cs"/>
        </a:defRPr>
      </a:lvl1pPr>
      <a:lvl2pPr marL="7191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2pPr>
      <a:lvl3pPr marL="1079500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3pPr>
      <a:lvl4pPr marL="1439863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4pPr>
      <a:lvl5pPr marL="1798638" indent="-358775" algn="l" defTabSz="358775" rtl="0" eaLnBrk="1" fontAlgn="base" hangingPunct="1">
        <a:spcBef>
          <a:spcPct val="0"/>
        </a:spcBef>
        <a:spcAft>
          <a:spcPts val="9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5pPr>
      <a:lvl6pPr marL="18875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6pPr>
      <a:lvl7pPr marL="23447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7pPr>
      <a:lvl8pPr marL="28019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8pPr>
      <a:lvl9pPr marL="3259138" indent="-358775" algn="l" rtl="0" eaLnBrk="1" fontAlgn="base" hangingPunct="1">
        <a:spcBef>
          <a:spcPct val="0"/>
        </a:spcBef>
        <a:spcAft>
          <a:spcPct val="40000"/>
        </a:spcAft>
        <a:buClr>
          <a:schemeClr val="bg2"/>
        </a:buClr>
        <a:buFont typeface="Wingdings" pitchFamily="2" charset="2"/>
        <a:buChar char="n"/>
        <a:defRPr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108.0848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matplotlibtips.blogspot.com/2017/12/draw-electric-field-lines-without-mayav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7"/>
          <p:cNvSpPr>
            <a:spLocks noGrp="1" noChangeArrowheads="1"/>
          </p:cNvSpPr>
          <p:nvPr>
            <p:ph type="ctrTitle"/>
          </p:nvPr>
        </p:nvSpPr>
        <p:spPr>
          <a:xfrm>
            <a:off x="467547" y="476674"/>
            <a:ext cx="8207375" cy="1008063"/>
          </a:xfrm>
        </p:spPr>
        <p:txBody>
          <a:bodyPr>
            <a:noAutofit/>
          </a:bodyPr>
          <a:lstStyle/>
          <a:p>
            <a:pPr eaLnBrk="1" hangingPunct="1"/>
            <a:r>
              <a:rPr lang="en-US" noProof="0" dirty="0"/>
              <a:t>Neural Operators</a:t>
            </a:r>
            <a:br>
              <a:rPr lang="en-US" noProof="0" dirty="0"/>
            </a:br>
            <a:r>
              <a:rPr lang="en-US" noProof="0" dirty="0"/>
              <a:t>A seminar presentation</a:t>
            </a:r>
          </a:p>
        </p:txBody>
      </p:sp>
      <p:sp>
        <p:nvSpPr>
          <p:cNvPr id="5123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6727" y="1773239"/>
            <a:ext cx="8207375" cy="647700"/>
          </a:xfrm>
        </p:spPr>
        <p:txBody>
          <a:bodyPr/>
          <a:lstStyle/>
          <a:p>
            <a:pPr eaLnBrk="1" hangingPunct="1"/>
            <a:r>
              <a:rPr lang="en-US" noProof="0" dirty="0"/>
              <a:t>Based on</a:t>
            </a:r>
          </a:p>
          <a:p>
            <a:pPr eaLnBrk="1" hangingPunct="1"/>
            <a:r>
              <a:rPr lang="en-US" noProof="0" dirty="0">
                <a:hlinkClick r:id="rId3"/>
              </a:rPr>
              <a:t>Neural Operator: Learning Maps Between Function Spaces with Applications to PDEs</a:t>
            </a:r>
            <a:r>
              <a:rPr lang="en-US" noProof="0" dirty="0"/>
              <a:t> [0]</a:t>
            </a:r>
          </a:p>
          <a:p>
            <a:pPr eaLnBrk="1" hangingPunct="1"/>
            <a:endParaRPr lang="en-US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an Operator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 dirty="0"/>
                  <a:t>Physicists describe the shape of the world with functions and the dynamics of the world via operators</a:t>
                </a:r>
              </a:p>
              <a:p>
                <a:r>
                  <a:rPr lang="en-US" noProof="0" dirty="0"/>
                  <a:t>An operator </a:t>
                </a:r>
                <a:r>
                  <a:rPr lang="en-US" i="1" noProof="0" dirty="0"/>
                  <a:t>acts </a:t>
                </a:r>
                <a:r>
                  <a:rPr lang="en-US" noProof="0" dirty="0"/>
                  <a:t>on a function</a:t>
                </a:r>
              </a:p>
              <a:p>
                <a:endParaRPr lang="en-US" noProof="0" dirty="0"/>
              </a:p>
              <a:p>
                <a:r>
                  <a:rPr lang="en-US" noProof="0" dirty="0"/>
                  <a:t>Example </a:t>
                </a: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i="1" noProof="0" dirty="0">
                  <a:latin typeface="Cambria Math" panose="02040503050406030204" pitchFamily="18" charset="0"/>
                </a:endParaRPr>
              </a:p>
              <a:p>
                <a:endParaRPr lang="en-US" b="0" i="1" noProof="0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en-US" noProof="0" dirty="0"/>
                  <a:t> is the </a:t>
                </a:r>
                <a:r>
                  <a:rPr lang="en-US" i="1" noProof="0" dirty="0"/>
                  <a:t>Differential Operator</a:t>
                </a:r>
              </a:p>
              <a:p>
                <a:pPr marL="1081088" lvl="3" indent="0">
                  <a:buNone/>
                </a:pPr>
                <a:endParaRPr lang="en-US" noProof="0" dirty="0"/>
              </a:p>
            </p:txBody>
          </p:sp>
        </mc:Choice>
        <mc:Fallback xmlns="">
          <p:sp>
            <p:nvSpPr>
              <p:cNvPr id="3" name="Inhaltsplatzhalt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34" t="-18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0965EA31-59DE-11A9-4248-8255AC193F67}"/>
              </a:ext>
            </a:extLst>
          </p:cNvPr>
          <p:cNvSpPr txBox="1"/>
          <p:nvPr/>
        </p:nvSpPr>
        <p:spPr>
          <a:xfrm>
            <a:off x="3599220" y="2741139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Function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6285254-3ED8-BEF3-2610-BA9F3E489E61}"/>
              </a:ext>
            </a:extLst>
          </p:cNvPr>
          <p:cNvSpPr txBox="1"/>
          <p:nvPr/>
        </p:nvSpPr>
        <p:spPr>
          <a:xfrm>
            <a:off x="4716016" y="4192333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Operator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6CF0453-B33C-1E56-2DDB-356810CD6904}"/>
              </a:ext>
            </a:extLst>
          </p:cNvPr>
          <p:cNvCxnSpPr>
            <a:cxnSpLocks/>
          </p:cNvCxnSpPr>
          <p:nvPr/>
        </p:nvCxnSpPr>
        <p:spPr bwMode="auto">
          <a:xfrm flipH="1">
            <a:off x="3563888" y="3104206"/>
            <a:ext cx="373748" cy="511838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1EE9F88-EBE9-C5B6-6657-B77432DB5716}"/>
              </a:ext>
            </a:extLst>
          </p:cNvPr>
          <p:cNvCxnSpPr>
            <a:cxnSpLocks/>
          </p:cNvCxnSpPr>
          <p:nvPr/>
        </p:nvCxnSpPr>
        <p:spPr bwMode="auto">
          <a:xfrm>
            <a:off x="4265053" y="3121828"/>
            <a:ext cx="248647" cy="494216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A77C15F-743B-46DE-6795-68486A777632}"/>
              </a:ext>
            </a:extLst>
          </p:cNvPr>
          <p:cNvCxnSpPr>
            <a:cxnSpLocks/>
            <a:stCxn id="9" idx="1"/>
          </p:cNvCxnSpPr>
          <p:nvPr/>
        </p:nvCxnSpPr>
        <p:spPr bwMode="auto">
          <a:xfrm flipH="1" flipV="1">
            <a:off x="4265053" y="4169738"/>
            <a:ext cx="450963" cy="207261"/>
          </a:xfrm>
          <a:prstGeom prst="straightConnector1">
            <a:avLst/>
          </a:prstGeom>
          <a:ln>
            <a:tailEnd type="triangle"/>
          </a:ln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/>
              <p:nvPr/>
            </p:nvSpPr>
            <p:spPr>
              <a:xfrm>
                <a:off x="2103376" y="3507008"/>
                <a:ext cx="4572000" cy="6182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081088" lvl="3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)= </m:t>
                      </m:r>
                      <m:f>
                        <m:fPr>
                          <m:ctrlPr>
                            <a:rPr lang="en-US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b="0" i="0" noProof="0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US" b="0" i="0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b="0" i="0" noProof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b="0" i="0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14E8BB00-62B0-58FB-5E50-3C7473A5E8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3376" y="3507008"/>
                <a:ext cx="4572000" cy="6182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5994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14BAB-D31F-801E-C95C-EF8203BCD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That can‘t be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</p:spPr>
            <p:txBody>
              <a:bodyPr/>
              <a:lstStyle/>
              <a:p>
                <a:r>
                  <a:rPr lang="en-US" noProof="0" dirty="0"/>
                  <a:t>The world is full of </a:t>
                </a:r>
                <a:r>
                  <a:rPr lang="en-US" i="1" noProof="0" dirty="0"/>
                  <a:t>fields</a:t>
                </a:r>
              </a:p>
              <a:p>
                <a:pPr lvl="1"/>
                <a:r>
                  <a:rPr lang="en-US" noProof="0" dirty="0"/>
                  <a:t>Electromagnetic fields, flow fields, gravitational fields, quantum fields</a:t>
                </a:r>
              </a:p>
              <a:p>
                <a:r>
                  <a:rPr lang="en-US" noProof="0" dirty="0"/>
                  <a:t>Fields </a:t>
                </a:r>
                <a:r>
                  <a:rPr lang="en-US" i="1" noProof="0" dirty="0"/>
                  <a:t>are </a:t>
                </a:r>
                <a:r>
                  <a:rPr lang="en-US" noProof="0" dirty="0"/>
                  <a:t>functions which exist inside a </a:t>
                </a:r>
                <a:r>
                  <a:rPr lang="en-US" i="1" noProof="0" dirty="0"/>
                  <a:t>Vector space</a:t>
                </a:r>
              </a:p>
              <a:p>
                <a:r>
                  <a:rPr lang="en-US" noProof="0" dirty="0"/>
                  <a:t>The dynamics are described with operators </a:t>
                </a:r>
                <a:r>
                  <a:rPr lang="en-US" noProof="0" dirty="0">
                    <a:sym typeface="Wingdings" panose="05000000000000000000" pitchFamily="2" charset="2"/>
                  </a:rPr>
                  <a:t> PDE</a:t>
                </a:r>
                <a:endParaRPr lang="en-US" noProof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ℏ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noProof="0" smtClean="0">
                        <a:latin typeface="Cambria Math" panose="02040503050406030204" pitchFamily="18" charset="0"/>
                      </a:rPr>
                      <m:t>Ψ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>
                    <a:sym typeface="Wingdings" panose="05000000000000000000" pitchFamily="2" charset="2"/>
                  </a:rPr>
                  <a:t>Schrödinger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Ψ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:</m:t>
                    </m:r>
                  </m:oMath>
                </a14:m>
                <a:r>
                  <a:rPr lang="en-US" noProof="0" dirty="0">
                    <a:sym typeface="Wingdings" panose="05000000000000000000" pitchFamily="2" charset="2"/>
                  </a:rPr>
                  <a:t> Function, </a:t>
                </a:r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𝐻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𝑖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ℏ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Operators</m:t>
                    </m:r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𝜌</m:t>
                    </m:r>
                    <m:d>
                      <m:dPr>
                        <m:ctrlP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fPr>
                          <m:num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</m:num>
                          <m:den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𝜕</m:t>
                            </m:r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𝑡</m:t>
                            </m:r>
                          </m:den>
                        </m:f>
                        <m:r>
                          <a:rPr lang="de-DE" b="0" i="1" noProof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+</m:t>
                        </m:r>
                        <m:d>
                          <m:dPr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dPr>
                          <m:e>
                            <m:acc>
                              <m:accPr>
                                <m:chr m:val="⃗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𝑣</m:t>
                                </m:r>
                              </m:e>
                            </m:acc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∙</m:t>
                            </m:r>
                            <m:r>
                              <m:rPr>
                                <m:sty m:val="p"/>
                              </m:r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∇</m:t>
                            </m:r>
                          </m:e>
                        </m:d>
                        <m:acc>
                          <m:accPr>
                            <m:chr m:val="⃗"/>
                            <m:ctrlP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b="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 </m:t>
                    </m:r>
                    <m:r>
                      <m:rPr>
                        <m:sty m:val="p"/>
                      </m:rP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𝜇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∆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𝑓</m:t>
                        </m:r>
                      </m:e>
                    </m:acc>
                  </m:oMath>
                </a14:m>
                <a:endParaRPr lang="en-US" noProof="0" dirty="0">
                  <a:sym typeface="Wingdings" panose="05000000000000000000" pitchFamily="2" charset="2"/>
                </a:endParaRPr>
              </a:p>
              <a:p>
                <a:pPr lvl="2"/>
                <a:r>
                  <a:rPr lang="en-US" noProof="0" dirty="0"/>
                  <a:t>Simplified Navier stokes equation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 &amp; </m:t>
                    </m:r>
                    <m:r>
                      <a:rPr lang="de-DE" b="0" i="1" noProof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noProof="0" dirty="0"/>
                  <a:t> Functions,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𝑣</m:t>
                            </m:r>
                          </m:e>
                        </m:acc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&amp; ∆</m:t>
                    </m:r>
                  </m:oMath>
                </a14:m>
                <a:r>
                  <a:rPr lang="en-US" noProof="0" dirty="0"/>
                  <a:t> Operators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56DD294-B564-C6E0-C1D6-3BEE1C22E7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910" y="1773239"/>
                <a:ext cx="8208000" cy="4248150"/>
              </a:xfrm>
              <a:blipFill>
                <a:blip r:embed="rId2"/>
                <a:stretch>
                  <a:fillRect l="-1559" t="-1865" b="-34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5D8B48D-BE93-972C-B0AC-88BB65652CB2}"/>
              </a:ext>
            </a:extLst>
          </p:cNvPr>
          <p:cNvGrpSpPr/>
          <p:nvPr/>
        </p:nvGrpSpPr>
        <p:grpSpPr>
          <a:xfrm>
            <a:off x="6228184" y="2996952"/>
            <a:ext cx="2806840" cy="2806309"/>
            <a:chOff x="6012160" y="2781190"/>
            <a:chExt cx="2806840" cy="2806309"/>
          </a:xfrm>
        </p:grpSpPr>
        <p:pic>
          <p:nvPicPr>
            <p:cNvPr id="5" name="Grafik 4" descr="Ein Bild, das Farbigkeit, Screenshot, Kreis, Text enthält.&#10;&#10;KI-generierte Inhalte können fehlerhaft sein.">
              <a:extLst>
                <a:ext uri="{FF2B5EF4-FFF2-40B4-BE49-F238E27FC236}">
                  <a16:creationId xmlns:a16="http://schemas.microsoft.com/office/drawing/2014/main" id="{DD6A8C1E-A3C5-B71A-2E41-950A26BFB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12160" y="2781190"/>
              <a:ext cx="2806840" cy="2232248"/>
            </a:xfrm>
            <a:prstGeom prst="rect">
              <a:avLst/>
            </a:prstGeom>
          </p:spPr>
        </p:pic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14071D0-BE61-2DA1-C3C8-1A7ED5A4848D}"/>
                </a:ext>
              </a:extLst>
            </p:cNvPr>
            <p:cNvSpPr txBox="1"/>
            <p:nvPr/>
          </p:nvSpPr>
          <p:spPr>
            <a:xfrm>
              <a:off x="6227448" y="4941168"/>
              <a:ext cx="23762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noProof="0" dirty="0"/>
                <a:t>A scalar field of an electric potential [1]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2111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DDD7D0-A8AC-6EE4-F55E-F70FE262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interested</a:t>
            </a:r>
            <a:r>
              <a:rPr lang="de-DE" dirty="0"/>
              <a:t> in?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6725" y="1773239"/>
                <a:ext cx="4897363" cy="4248150"/>
              </a:xfrm>
            </p:spPr>
            <p:txBody>
              <a:bodyPr/>
              <a:lstStyle/>
              <a:p>
                <a:r>
                  <a:rPr lang="de-DE" dirty="0"/>
                  <a:t>We </a:t>
                </a:r>
                <a:r>
                  <a:rPr lang="de-DE" dirty="0" err="1"/>
                  <a:t>want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i="1" dirty="0" err="1"/>
                  <a:t>solution</a:t>
                </a:r>
                <a:r>
                  <a:rPr lang="de-DE" i="1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PDE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Initial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pPr lvl="1"/>
                <a:r>
                  <a:rPr lang="de-DE" dirty="0"/>
                  <a:t>Boundary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endParaRPr lang="de-DE" dirty="0"/>
              </a:p>
              <a:p>
                <a:r>
                  <a:rPr lang="de-DE" dirty="0" err="1"/>
                  <a:t>Restrict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problem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subspace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space</a:t>
                </a:r>
                <a:r>
                  <a:rPr lang="de-DE" dirty="0"/>
                  <a:t> and </a:t>
                </a:r>
                <a:r>
                  <a:rPr lang="de-DE" dirty="0" err="1"/>
                  <a:t>employ</a:t>
                </a:r>
                <a:r>
                  <a:rPr lang="de-DE" dirty="0"/>
                  <a:t> </a:t>
                </a:r>
                <a:r>
                  <a:rPr lang="de-DE" dirty="0" err="1"/>
                  <a:t>boundary</a:t>
                </a:r>
                <a:r>
                  <a:rPr lang="de-DE" dirty="0"/>
                  <a:t> </a:t>
                </a:r>
                <a:r>
                  <a:rPr lang="de-DE" dirty="0" err="1"/>
                  <a:t>conditions</a:t>
                </a:r>
                <a:endParaRPr lang="de-DE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̿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;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;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7061F4-CFAB-1E68-8FB5-940441D23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6725" y="1773239"/>
                <a:ext cx="4897363" cy="4248150"/>
              </a:xfrm>
              <a:blipFill>
                <a:blip r:embed="rId2"/>
                <a:stretch>
                  <a:fillRect l="-2740" t="-3156" r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Screenshot, Blau, Electric Blue (Farbe), Majorelle Blue enthält.&#10;&#10;KI-generierte Inhalte können fehlerhaft sein.">
            <a:extLst>
              <a:ext uri="{FF2B5EF4-FFF2-40B4-BE49-F238E27FC236}">
                <a16:creationId xmlns:a16="http://schemas.microsoft.com/office/drawing/2014/main" id="{3E2F6C97-F7CF-F052-CE9F-AAF7C84CBA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0152" y="1052736"/>
            <a:ext cx="2687960" cy="267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705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155A10-E554-A339-74D2-FEFE3B65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What's the problem?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F0A471-A254-AC25-127E-66C359AF90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Solving PDEs and finding the desired functions </a:t>
            </a:r>
          </a:p>
          <a:p>
            <a:pPr lvl="1"/>
            <a:r>
              <a:rPr lang="en-US" noProof="0" dirty="0"/>
              <a:t>Hard</a:t>
            </a:r>
          </a:p>
          <a:p>
            <a:pPr lvl="1"/>
            <a:r>
              <a:rPr lang="en-US" noProof="0" dirty="0"/>
              <a:t>Slow</a:t>
            </a:r>
          </a:p>
          <a:p>
            <a:pPr lvl="1"/>
            <a:r>
              <a:rPr lang="en-US" noProof="0" dirty="0"/>
              <a:t>Expensive</a:t>
            </a:r>
          </a:p>
          <a:p>
            <a:r>
              <a:rPr lang="en-US" dirty="0"/>
              <a:t>Lets try to naively apply a Neural Network</a:t>
            </a:r>
          </a:p>
          <a:p>
            <a:r>
              <a:rPr lang="en-US" noProof="0" dirty="0"/>
              <a:t>Severe limitation –&gt; NNs a re </a:t>
            </a:r>
            <a:r>
              <a:rPr lang="en-US" b="1" noProof="0" dirty="0"/>
              <a:t>not </a:t>
            </a:r>
            <a:r>
              <a:rPr lang="en-US" noProof="0" dirty="0"/>
              <a:t>scale and discretization invariant</a:t>
            </a:r>
          </a:p>
          <a:p>
            <a:pPr lvl="1"/>
            <a:r>
              <a:rPr lang="en-US" dirty="0"/>
              <a:t>If the scale of the inference problem changes, it becomes useless</a:t>
            </a:r>
          </a:p>
          <a:p>
            <a:r>
              <a:rPr lang="en-US" noProof="0" dirty="0"/>
              <a:t>Another problem –&gt; NNs do not return a function and can’t be queried everywhere</a:t>
            </a:r>
          </a:p>
          <a:p>
            <a:pPr lvl="1"/>
            <a:r>
              <a:rPr lang="en-US" dirty="0"/>
              <a:t>Training on meshes is impossible</a:t>
            </a:r>
            <a:r>
              <a:rPr lang="en-US" noProof="0" dirty="0"/>
              <a:t> </a:t>
            </a:r>
          </a:p>
          <a:p>
            <a:pPr lvl="1"/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142515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EFAD04-D720-4250-36C8-B6CD07B8C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Introducing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operators</a:t>
            </a:r>
            <a:endParaRPr lang="en-GB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7DD1B7-9055-A5E0-4EDF-4071AFC7C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688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References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6725" y="836712"/>
            <a:ext cx="8208000" cy="5184677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[0] 	</a:t>
            </a:r>
            <a:r>
              <a:rPr lang="en-US" noProof="0" dirty="0"/>
              <a:t>N. B. </a:t>
            </a:r>
            <a:r>
              <a:rPr lang="en-US" noProof="0" dirty="0" err="1"/>
              <a:t>Kovachki</a:t>
            </a:r>
            <a:r>
              <a:rPr lang="en-US" noProof="0" dirty="0"/>
              <a:t>, Z. Li, B. Liu, K. </a:t>
            </a:r>
            <a:r>
              <a:rPr lang="en-US" noProof="0" dirty="0" err="1"/>
              <a:t>Azizzadenesheli</a:t>
            </a:r>
            <a:r>
              <a:rPr lang="en-US" noProof="0" dirty="0"/>
              <a:t>, K. Bhattacharya, A. M. Stuart, A. 	</a:t>
            </a:r>
            <a:r>
              <a:rPr lang="en-US" noProof="0" dirty="0" err="1"/>
              <a:t>Anandkumar</a:t>
            </a:r>
            <a:r>
              <a:rPr lang="en-US" noProof="0" dirty="0"/>
              <a:t>: Neural Operator: Learning Maps Between Function Spaces. </a:t>
            </a:r>
            <a:r>
              <a:rPr lang="en-US" noProof="0" dirty="0" err="1"/>
              <a:t>CoRR</a:t>
            </a:r>
            <a:r>
              <a:rPr lang="en-US" noProof="0" dirty="0"/>
              <a:t> 	abs/2108.08481. 2021.</a:t>
            </a:r>
            <a:endParaRPr lang="en-US" noProof="0" dirty="0">
              <a:latin typeface="Frutiger LT Com 45 Light"/>
            </a:endParaRPr>
          </a:p>
          <a:p>
            <a:pPr marL="0" indent="0">
              <a:buNone/>
            </a:pPr>
            <a:r>
              <a:rPr lang="en-US" noProof="0" dirty="0">
                <a:latin typeface="Frutiger LT Com 45 Light"/>
              </a:rPr>
              <a:t>[1] 	</a:t>
            </a:r>
            <a:r>
              <a:rPr lang="en-US" noProof="0" dirty="0">
                <a:latin typeface="Frutiger LT Com 45 Light"/>
                <a:hlinkClick r:id="rId2"/>
              </a:rPr>
              <a:t>Draw electric field lines without </a:t>
            </a:r>
            <a:r>
              <a:rPr lang="en-US" noProof="0" dirty="0" err="1">
                <a:latin typeface="Frutiger LT Com 45 Light"/>
                <a:hlinkClick r:id="rId2"/>
              </a:rPr>
              <a:t>Mayavi</a:t>
            </a:r>
            <a:r>
              <a:rPr lang="en-US" noProof="0" dirty="0">
                <a:latin typeface="Frutiger LT Com 45 Light"/>
                <a:hlinkClick r:id="rId2"/>
              </a:rPr>
              <a:t> 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0681217"/>
      </p:ext>
    </p:extLst>
  </p:cSld>
  <p:clrMapOvr>
    <a:masterClrMapping/>
  </p:clrMapOvr>
</p:sld>
</file>

<file path=ppt/theme/theme1.xml><?xml version="1.0" encoding="utf-8"?>
<a:theme xmlns:a="http://schemas.openxmlformats.org/drawingml/2006/main" name="P10_110616_ppt_Master_Ins_de_4zu3">
  <a:themeElements>
    <a:clrScheme name="Hyperion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Bullets">
      <a:majorFont>
        <a:latin typeface="Frutiger LT Com 45 Light"/>
        <a:ea typeface=""/>
        <a:cs typeface=""/>
      </a:majorFont>
      <a:minorFont>
        <a:latin typeface="Frutiger LT Com 55 Roman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=""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=""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=""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40000"/>
          </a:spcAft>
          <a:buClrTx/>
          <a:buSzTx/>
          <a:buFont typeface="Wingdings" pitchFamily="2" charset="2"/>
          <a:buNone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Frutiger LT Com 55 Roman" pitchFamily="34" charset="0"/>
          </a:defRPr>
        </a:defPPr>
      </a:lstStyle>
    </a:lnDef>
  </a:objectDefaults>
  <a:extraClrSchemeLst>
    <a:extraClrScheme>
      <a:clrScheme name="Bulle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ullets 13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4">
        <a:dk1>
          <a:srgbClr val="000000"/>
        </a:dk1>
        <a:lt1>
          <a:srgbClr val="FFFFFF"/>
        </a:lt1>
        <a:dk2>
          <a:srgbClr val="000000"/>
        </a:dk2>
        <a:lt2>
          <a:srgbClr val="A8AFAF"/>
        </a:lt2>
        <a:accent1>
          <a:srgbClr val="009475"/>
        </a:accent1>
        <a:accent2>
          <a:srgbClr val="009475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8669"/>
        </a:accent6>
        <a:hlink>
          <a:srgbClr val="009475"/>
        </a:hlink>
        <a:folHlink>
          <a:srgbClr val="009475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5">
        <a:dk1>
          <a:srgbClr val="000000"/>
        </a:dk1>
        <a:lt1>
          <a:srgbClr val="FFFFFF"/>
        </a:lt1>
        <a:dk2>
          <a:srgbClr val="009475"/>
        </a:dk2>
        <a:lt2>
          <a:srgbClr val="A8AFAF"/>
        </a:lt2>
        <a:accent1>
          <a:srgbClr val="25BAE2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CD9EE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ullets 16">
        <a:dk1>
          <a:srgbClr val="000000"/>
        </a:dk1>
        <a:lt1>
          <a:srgbClr val="FFFFFF"/>
        </a:lt1>
        <a:dk2>
          <a:srgbClr val="009475"/>
        </a:dk2>
        <a:lt2>
          <a:srgbClr val="25BAE2"/>
        </a:lt2>
        <a:accent1>
          <a:srgbClr val="009475"/>
        </a:accent1>
        <a:accent2>
          <a:srgbClr val="006E92"/>
        </a:accent2>
        <a:accent3>
          <a:srgbClr val="FFFFFF"/>
        </a:accent3>
        <a:accent4>
          <a:srgbClr val="000000"/>
        </a:accent4>
        <a:accent5>
          <a:srgbClr val="AAC8BD"/>
        </a:accent5>
        <a:accent6>
          <a:srgbClr val="006384"/>
        </a:accent6>
        <a:hlink>
          <a:srgbClr val="4C636F"/>
        </a:hlink>
        <a:folHlink>
          <a:srgbClr val="9E1C2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eminar_template" id="{62C03DA9-0C08-4749-A17B-CE71DDE8DC81}" vid="{C6B6CC73-7B13-EE45-B952-F1F1953D43BA}"/>
    </a:ext>
  </a:extLst>
</a:theme>
</file>

<file path=ppt/theme/theme2.xml><?xml version="1.0" encoding="utf-8"?>
<a:theme xmlns:a="http://schemas.openxmlformats.org/drawingml/2006/main" name="Larissa">
  <a:themeElements>
    <a:clrScheme name="Fraunhofer Farbpalette">
      <a:dk1>
        <a:srgbClr val="000000"/>
      </a:dk1>
      <a:lt1>
        <a:srgbClr val="FFFFFF"/>
      </a:lt1>
      <a:dk2>
        <a:srgbClr val="179C7D"/>
      </a:dk2>
      <a:lt2>
        <a:srgbClr val="A8AFAF"/>
      </a:lt2>
      <a:accent1>
        <a:srgbClr val="EB6A0A"/>
      </a:accent1>
      <a:accent2>
        <a:srgbClr val="006E92"/>
      </a:accent2>
      <a:accent3>
        <a:srgbClr val="25BAE2"/>
      </a:accent3>
      <a:accent4>
        <a:srgbClr val="B1C800"/>
      </a:accent4>
      <a:accent5>
        <a:srgbClr val="FEEFD6"/>
      </a:accent5>
      <a:accent6>
        <a:srgbClr val="E1E3E3"/>
      </a:accent6>
      <a:hlink>
        <a:srgbClr val="25BAE2"/>
      </a:hlink>
      <a:folHlink>
        <a:srgbClr val="B1C8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P10_110616_ppt_Master_Ins_de_4zu3</Template>
  <TotalTime>0</TotalTime>
  <Words>352</Words>
  <Application>Microsoft Office PowerPoint</Application>
  <PresentationFormat>Bildschirmpräsentation (4:3)</PresentationFormat>
  <Paragraphs>50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Cambria Math</vt:lpstr>
      <vt:lpstr>Frutiger LT Com 45 Light</vt:lpstr>
      <vt:lpstr>Frutiger LT Com 55 Roman</vt:lpstr>
      <vt:lpstr>Wingdings</vt:lpstr>
      <vt:lpstr>P10_110616_ppt_Master_Ins_de_4zu3</vt:lpstr>
      <vt:lpstr>Neural Operators A seminar presentation</vt:lpstr>
      <vt:lpstr>What is an Operator</vt:lpstr>
      <vt:lpstr>That can‘t be all</vt:lpstr>
      <vt:lpstr>What are we actually interested in?</vt:lpstr>
      <vt:lpstr>What's the problem? </vt:lpstr>
      <vt:lpstr>Introducing neural operators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</dc:title>
  <dc:creator>Tobias Feigl</dc:creator>
  <cp:lastModifiedBy>Alexander Luce</cp:lastModifiedBy>
  <cp:revision>6</cp:revision>
  <cp:lastPrinted>2014-12-05T14:28:32Z</cp:lastPrinted>
  <dcterms:created xsi:type="dcterms:W3CDTF">2019-01-06T10:45:11Z</dcterms:created>
  <dcterms:modified xsi:type="dcterms:W3CDTF">2025-02-09T17:05:38Z</dcterms:modified>
</cp:coreProperties>
</file>