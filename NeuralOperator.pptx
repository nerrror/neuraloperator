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1" r:id="rId1"/>
  </p:sldMasterIdLst>
  <p:notesMasterIdLst>
    <p:notesMasterId r:id="rId20"/>
  </p:notesMasterIdLst>
  <p:handoutMasterIdLst>
    <p:handoutMasterId r:id="rId21"/>
  </p:handoutMasterIdLst>
  <p:sldIdLst>
    <p:sldId id="305" r:id="rId2"/>
    <p:sldId id="383" r:id="rId3"/>
    <p:sldId id="373" r:id="rId4"/>
    <p:sldId id="384" r:id="rId5"/>
    <p:sldId id="371" r:id="rId6"/>
    <p:sldId id="372" r:id="rId7"/>
    <p:sldId id="374" r:id="rId8"/>
    <p:sldId id="375" r:id="rId9"/>
    <p:sldId id="376" r:id="rId10"/>
    <p:sldId id="377" r:id="rId11"/>
    <p:sldId id="378" r:id="rId12"/>
    <p:sldId id="380" r:id="rId13"/>
    <p:sldId id="381" r:id="rId14"/>
    <p:sldId id="382" r:id="rId15"/>
    <p:sldId id="387" r:id="rId16"/>
    <p:sldId id="386" r:id="rId17"/>
    <p:sldId id="355" r:id="rId18"/>
    <p:sldId id="379" r:id="rId19"/>
  </p:sldIdLst>
  <p:sldSz cx="9144000" cy="6858000" type="screen4x3"/>
  <p:notesSz cx="6805613" cy="99441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331E1F16-BE99-4DA9-8C2A-02A6A471B66C}">
          <p14:sldIdLst>
            <p14:sldId id="305"/>
            <p14:sldId id="383"/>
            <p14:sldId id="373"/>
            <p14:sldId id="384"/>
            <p14:sldId id="371"/>
            <p14:sldId id="372"/>
            <p14:sldId id="374"/>
            <p14:sldId id="375"/>
            <p14:sldId id="376"/>
            <p14:sldId id="377"/>
            <p14:sldId id="378"/>
            <p14:sldId id="380"/>
            <p14:sldId id="381"/>
            <p14:sldId id="382"/>
            <p14:sldId id="387"/>
            <p14:sldId id="386"/>
            <p14:sldId id="355"/>
            <p14:sldId id="3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793">
          <p15:clr>
            <a:srgbClr val="A4A3A4"/>
          </p15:clr>
        </p15:guide>
        <p15:guide id="2" orient="horz" pos="255">
          <p15:clr>
            <a:srgbClr val="A4A3A4"/>
          </p15:clr>
        </p15:guide>
        <p15:guide id="3" orient="horz" pos="1704">
          <p15:clr>
            <a:srgbClr val="A4A3A4"/>
          </p15:clr>
        </p15:guide>
        <p15:guide id="4" pos="5467">
          <p15:clr>
            <a:srgbClr val="A4A3A4"/>
          </p15:clr>
        </p15:guide>
        <p15:guide id="5" pos="2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9">
          <p15:clr>
            <a:srgbClr val="A4A3A4"/>
          </p15:clr>
        </p15:guide>
        <p15:guide id="2" orient="horz" pos="5875">
          <p15:clr>
            <a:srgbClr val="A4A3A4"/>
          </p15:clr>
        </p15:guide>
        <p15:guide id="3" orient="horz" pos="2218">
          <p15:clr>
            <a:srgbClr val="A4A3A4"/>
          </p15:clr>
        </p15:guide>
        <p15:guide id="4" orient="horz" pos="2081">
          <p15:clr>
            <a:srgbClr val="A4A3A4"/>
          </p15:clr>
        </p15:guide>
        <p15:guide id="5" pos="309">
          <p15:clr>
            <a:srgbClr val="A4A3A4"/>
          </p15:clr>
        </p15:guide>
        <p15:guide id="6" pos="397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2272"/>
    <a:srgbClr val="FFFFFF"/>
    <a:srgbClr val="FF930F"/>
    <a:srgbClr val="006E92"/>
    <a:srgbClr val="F67D22"/>
    <a:srgbClr val="4C99B2"/>
    <a:srgbClr val="5CBAA4"/>
    <a:srgbClr val="D4E6F4"/>
    <a:srgbClr val="A2D7CB"/>
    <a:srgbClr val="99C5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Helle Formatvorlage 3 - Akz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ittlere Formatvorlage 3 - 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9" autoAdjust="0"/>
    <p:restoredTop sz="79216" autoAdjust="0"/>
  </p:normalViewPr>
  <p:slideViewPr>
    <p:cSldViewPr>
      <p:cViewPr>
        <p:scale>
          <a:sx n="100" d="100"/>
          <a:sy n="100" d="100"/>
        </p:scale>
        <p:origin x="7272" y="1062"/>
      </p:cViewPr>
      <p:guideLst>
        <p:guide orient="horz" pos="3793"/>
        <p:guide orient="horz" pos="255"/>
        <p:guide orient="horz" pos="1704"/>
        <p:guide pos="5467"/>
        <p:guide pos="2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>
        <p:scale>
          <a:sx n="82" d="100"/>
          <a:sy n="82" d="100"/>
        </p:scale>
        <p:origin x="-5898" y="-834"/>
      </p:cViewPr>
      <p:guideLst>
        <p:guide orient="horz" pos="389"/>
        <p:guide orient="horz" pos="5875"/>
        <p:guide orient="horz" pos="2218"/>
        <p:guide orient="horz" pos="2081"/>
        <p:guide pos="309"/>
        <p:guide pos="397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5444" y="1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fld id="{AA462A89-C98B-47DD-B90F-91A5A53F9B43}" type="datetimeFigureOut">
              <a:rPr lang="de-DE"/>
              <a:pPr>
                <a:defRPr/>
              </a:pPr>
              <a:t>08.03.2025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44976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 anchor="b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5444" y="9444976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 anchor="b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fld id="{7E8CBED8-DC35-4046-95F3-C8A9622E2BA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984805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91160" y="1"/>
            <a:ext cx="3640361" cy="497525"/>
          </a:xfrm>
          <a:prstGeom prst="rect">
            <a:avLst/>
          </a:prstGeom>
        </p:spPr>
        <p:txBody>
          <a:bodyPr vert="horz" lIns="0" tIns="90810" rIns="92263" bIns="46131" rtlCol="0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858630" y="1"/>
            <a:ext cx="1455823" cy="497525"/>
          </a:xfrm>
          <a:prstGeom prst="rect">
            <a:avLst/>
          </a:prstGeom>
        </p:spPr>
        <p:txBody>
          <a:bodyPr vert="horz" lIns="92263" tIns="90810" rIns="0" bIns="46131" rtlCol="0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fld id="{D128E39D-64B6-43AA-8112-E8570A28280E}" type="datetimeFigureOut">
              <a:rPr lang="de-DE"/>
              <a:pPr>
                <a:defRPr/>
              </a:pPr>
              <a:t>08.03.2025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95300" y="617538"/>
            <a:ext cx="3582988" cy="2686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63" tIns="46131" rIns="92263" bIns="46131" rtlCol="0" anchor="ctr"/>
          <a:lstStyle/>
          <a:p>
            <a:pPr lv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91160" y="3521070"/>
            <a:ext cx="5823293" cy="5805524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491160" y="9444976"/>
            <a:ext cx="3640361" cy="497525"/>
          </a:xfrm>
          <a:prstGeom prst="rect">
            <a:avLst/>
          </a:prstGeom>
        </p:spPr>
        <p:txBody>
          <a:bodyPr vert="horz" lIns="0" tIns="46131" rIns="92263" bIns="181620" rtlCol="0" anchor="b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858630" y="9444976"/>
            <a:ext cx="1455823" cy="497525"/>
          </a:xfrm>
          <a:prstGeom prst="rect">
            <a:avLst/>
          </a:prstGeom>
        </p:spPr>
        <p:txBody>
          <a:bodyPr vert="horz" lIns="92263" tIns="46131" rIns="0" bIns="181620" rtlCol="0" anchor="b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fld id="{5CE6F52F-4F01-47B4-A1A3-4442B48B2E25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979213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171450" indent="-171450" algn="l" rtl="0" eaLnBrk="0" fontAlgn="base" hangingPunct="0">
      <a:spcBef>
        <a:spcPct val="30000"/>
      </a:spcBef>
      <a:spcAft>
        <a:spcPct val="0"/>
      </a:spcAft>
      <a:buClr>
        <a:srgbClr val="179C7D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1pPr>
    <a:lvl2pPr marL="360363" indent="-184150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2pPr>
    <a:lvl3pPr marL="536575" indent="-176213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3pPr>
    <a:lvl4pPr marL="715963" indent="-174625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4pPr>
    <a:lvl5pPr marL="896938" indent="-180975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495300" y="617538"/>
            <a:ext cx="3582988" cy="268605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Neural</a:t>
            </a:r>
            <a:r>
              <a:rPr lang="de-DE" dirty="0"/>
              <a:t> Operators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concept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all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satisfy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criteria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mappings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infinite dimensional </a:t>
            </a:r>
            <a:r>
              <a:rPr lang="de-DE" dirty="0" err="1"/>
              <a:t>functionspace</a:t>
            </a:r>
            <a:r>
              <a:rPr lang="de-DE" dirty="0"/>
              <a:t> </a:t>
            </a:r>
          </a:p>
          <a:p>
            <a:r>
              <a:rPr lang="de-DE" dirty="0"/>
              <a:t>First </a:t>
            </a:r>
            <a:r>
              <a:rPr lang="de-DE" dirty="0" err="1"/>
              <a:t>disect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operators</a:t>
            </a:r>
            <a:r>
              <a:rPr lang="de-DE" dirty="0"/>
              <a:t> do</a:t>
            </a:r>
          </a:p>
          <a:p>
            <a:r>
              <a:rPr lang="de-DE" dirty="0"/>
              <a:t>Next </a:t>
            </a:r>
            <a:r>
              <a:rPr lang="de-DE" dirty="0" err="1"/>
              <a:t>layout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Operators</a:t>
            </a:r>
          </a:p>
          <a:p>
            <a:r>
              <a:rPr lang="de-DE" dirty="0" err="1"/>
              <a:t>Finally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examples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45319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Neural</a:t>
            </a:r>
            <a:r>
              <a:rPr lang="de-DE" dirty="0"/>
              <a:t> Networks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a </a:t>
            </a:r>
            <a:r>
              <a:rPr lang="de-DE" dirty="0" err="1"/>
              <a:t>problem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vectorized</a:t>
            </a:r>
            <a:r>
              <a:rPr lang="de-DE" dirty="0"/>
              <a:t> in such a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entire</a:t>
            </a:r>
            <a:r>
              <a:rPr lang="de-DE" dirty="0"/>
              <a:t> </a:t>
            </a:r>
            <a:r>
              <a:rPr lang="de-DE" dirty="0" err="1"/>
              <a:t>problem</a:t>
            </a:r>
            <a:endParaRPr lang="de-DE" dirty="0"/>
          </a:p>
          <a:p>
            <a:r>
              <a:rPr lang="de-DE" dirty="0" err="1"/>
              <a:t>Example</a:t>
            </a:r>
            <a:r>
              <a:rPr lang="de-DE" dirty="0"/>
              <a:t> CNN </a:t>
            </a:r>
            <a:r>
              <a:rPr lang="de-DE" dirty="0" err="1"/>
              <a:t>trained</a:t>
            </a:r>
            <a:r>
              <a:rPr lang="de-DE" dirty="0"/>
              <a:t> on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a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camera</a:t>
            </a:r>
            <a:r>
              <a:rPr lang="de-DE" dirty="0"/>
              <a:t> and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camera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13336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Recap</a:t>
            </a:r>
            <a:br>
              <a:rPr lang="en-GB" dirty="0"/>
            </a:br>
            <a:r>
              <a:rPr lang="en-GB" dirty="0"/>
              <a:t>NNs – vector to vector </a:t>
            </a:r>
            <a:br>
              <a:rPr lang="en-GB" dirty="0"/>
            </a:br>
            <a:r>
              <a:rPr lang="en-GB" dirty="0"/>
              <a:t>NOs – function to function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828543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27402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2"/>
          <p:cNvSpPr>
            <a:spLocks noChangeShapeType="1"/>
          </p:cNvSpPr>
          <p:nvPr userDrawn="1"/>
        </p:nvSpPr>
        <p:spPr bwMode="auto">
          <a:xfrm flipV="1">
            <a:off x="466727" y="406400"/>
            <a:ext cx="8207375" cy="0"/>
          </a:xfrm>
          <a:prstGeom prst="line">
            <a:avLst/>
          </a:prstGeom>
          <a:noFill/>
          <a:ln w="5080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" name="Line 13"/>
          <p:cNvSpPr>
            <a:spLocks noChangeShapeType="1"/>
          </p:cNvSpPr>
          <p:nvPr userDrawn="1"/>
        </p:nvSpPr>
        <p:spPr bwMode="auto">
          <a:xfrm>
            <a:off x="466727" y="2492375"/>
            <a:ext cx="8207375" cy="0"/>
          </a:xfrm>
          <a:prstGeom prst="line">
            <a:avLst/>
          </a:prstGeom>
          <a:noFill/>
          <a:ln w="1270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6" name="Text Box 19"/>
          <p:cNvSpPr txBox="1">
            <a:spLocks noChangeArrowheads="1"/>
          </p:cNvSpPr>
          <p:nvPr userDrawn="1"/>
        </p:nvSpPr>
        <p:spPr bwMode="auto">
          <a:xfrm>
            <a:off x="455613" y="6432551"/>
            <a:ext cx="900112" cy="1231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1pPr>
            <a:lvl2pPr marL="742950" indent="-28575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2pPr>
            <a:lvl3pPr marL="1143000" indent="-22860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3pPr>
            <a:lvl4pPr marL="1600200" indent="-22860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4pPr>
            <a:lvl5pPr marL="2057400" indent="-22860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ct val="0"/>
              </a:spcAft>
              <a:buFontTx/>
              <a:buNone/>
              <a:defRPr/>
            </a:pPr>
            <a:r>
              <a:rPr lang="de-DE" sz="800" dirty="0">
                <a:solidFill>
                  <a:schemeClr val="bg2"/>
                </a:solidFill>
              </a:rPr>
              <a:t>© Fraunhofer IIS</a:t>
            </a:r>
          </a:p>
        </p:txBody>
      </p:sp>
      <p:sp>
        <p:nvSpPr>
          <p:cNvPr id="7" name="Line 7"/>
          <p:cNvSpPr>
            <a:spLocks noChangeShapeType="1"/>
          </p:cNvSpPr>
          <p:nvPr userDrawn="1"/>
        </p:nvSpPr>
        <p:spPr bwMode="auto">
          <a:xfrm flipV="1">
            <a:off x="469903" y="6165850"/>
            <a:ext cx="8207375" cy="0"/>
          </a:xfrm>
          <a:prstGeom prst="line">
            <a:avLst/>
          </a:prstGeom>
          <a:noFill/>
          <a:ln w="3175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pic>
        <p:nvPicPr>
          <p:cNvPr id="8" name="Grafik 11" descr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5358031"/>
            <a:ext cx="2686431" cy="73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66725" y="476824"/>
            <a:ext cx="8208000" cy="1008140"/>
          </a:xfrm>
          <a:noFill/>
        </p:spPr>
        <p:txBody>
          <a:bodyPr/>
          <a:lstStyle>
            <a:lvl1pPr marL="0" indent="0">
              <a:defRPr sz="32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1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6725" y="1773238"/>
            <a:ext cx="8208000" cy="64762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noProof="0"/>
              <a:t>Master-Untertitelformat bearbeiten</a:t>
            </a:r>
            <a:endParaRPr lang="de-DE" noProof="0" dirty="0"/>
          </a:p>
        </p:txBody>
      </p:sp>
      <p:pic>
        <p:nvPicPr>
          <p:cNvPr id="13314" name="Picture 2" descr="Logo Friedrich-Alexander-Universität Erlangen-Nürnberg – Technische Fakultät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9552" y="5373216"/>
            <a:ext cx="2381250" cy="6477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10957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6725" y="334800"/>
            <a:ext cx="8208000" cy="369332"/>
          </a:xfrm>
        </p:spPr>
        <p:txBody>
          <a:bodyPr>
            <a:spAutoFit/>
          </a:bodyPr>
          <a:lstStyle>
            <a:lvl1pPr marL="0" indent="0" defTabSz="504000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6725" y="1773239"/>
            <a:ext cx="8208000" cy="424815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de-DE" dirty="0"/>
          </a:p>
        </p:txBody>
      </p:sp>
      <p:sp>
        <p:nvSpPr>
          <p:cNvPr id="4" name="Textfeld 3"/>
          <p:cNvSpPr txBox="1">
            <a:spLocks noChangeArrowheads="1"/>
          </p:cNvSpPr>
          <p:nvPr userDrawn="1"/>
        </p:nvSpPr>
        <p:spPr bwMode="auto">
          <a:xfrm>
            <a:off x="3852069" y="6515472"/>
            <a:ext cx="1439863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spcAft>
                <a:spcPct val="40000"/>
              </a:spcAft>
              <a:buFont typeface="Wingdings" pitchFamily="2" charset="2"/>
              <a:buNone/>
            </a:pPr>
            <a:r>
              <a:rPr lang="de-DE" altLang="de-DE" sz="1000" dirty="0">
                <a:solidFill>
                  <a:schemeClr val="tx2"/>
                </a:solidFill>
              </a:rPr>
              <a:t>- </a:t>
            </a:r>
            <a:fld id="{7F804833-AD97-4094-977D-9ACBF24CDD8A}" type="slidenum">
              <a:rPr lang="de-DE" altLang="de-DE" sz="1000" smtClean="0">
                <a:solidFill>
                  <a:schemeClr val="tx2"/>
                </a:solidFill>
              </a:rPr>
              <a:pPr algn="ctr" eaLnBrk="1" hangingPunct="1">
                <a:spcAft>
                  <a:spcPct val="40000"/>
                </a:spcAft>
                <a:buFont typeface="Wingdings" pitchFamily="2" charset="2"/>
                <a:buNone/>
              </a:pPr>
              <a:t>‹Nr.›</a:t>
            </a:fld>
            <a:r>
              <a:rPr lang="de-DE" altLang="de-DE" sz="1000" baseline="0" dirty="0">
                <a:solidFill>
                  <a:schemeClr val="tx2"/>
                </a:solidFill>
              </a:rPr>
              <a:t> -</a:t>
            </a:r>
            <a:endParaRPr lang="de-DE" altLang="de-DE" sz="1000" dirty="0">
              <a:solidFill>
                <a:schemeClr val="tx2"/>
              </a:solidFill>
            </a:endParaRPr>
          </a:p>
        </p:txBody>
      </p:sp>
      <p:sp>
        <p:nvSpPr>
          <p:cNvPr id="5" name="Textfeld 4"/>
          <p:cNvSpPr txBox="1"/>
          <p:nvPr userDrawn="1"/>
        </p:nvSpPr>
        <p:spPr>
          <a:xfrm>
            <a:off x="4272078" y="6279123"/>
            <a:ext cx="10903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chemeClr val="tx2"/>
                </a:solidFill>
              </a:rPr>
              <a:t>Neural</a:t>
            </a:r>
            <a:r>
              <a:rPr lang="de-DE" sz="1000" dirty="0">
                <a:solidFill>
                  <a:schemeClr val="tx2"/>
                </a:solidFill>
              </a:rPr>
              <a:t> Operators</a:t>
            </a:r>
          </a:p>
        </p:txBody>
      </p:sp>
    </p:spTree>
    <p:extLst>
      <p:ext uri="{BB962C8B-B14F-4D97-AF65-F5344CB8AC3E}">
        <p14:creationId xmlns:p14="http://schemas.microsoft.com/office/powerpoint/2010/main" val="15332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6727" y="334963"/>
            <a:ext cx="8207375" cy="122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Mastertitelformat bearbeiten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7" y="1773239"/>
            <a:ext cx="8207375" cy="424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029" name="Line 7"/>
          <p:cNvSpPr>
            <a:spLocks noChangeShapeType="1"/>
          </p:cNvSpPr>
          <p:nvPr/>
        </p:nvSpPr>
        <p:spPr bwMode="auto">
          <a:xfrm flipV="1">
            <a:off x="469903" y="6165850"/>
            <a:ext cx="8207375" cy="0"/>
          </a:xfrm>
          <a:prstGeom prst="line">
            <a:avLst/>
          </a:prstGeom>
          <a:noFill/>
          <a:ln w="3175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pic>
        <p:nvPicPr>
          <p:cNvPr id="1030" name="Grafik 1" descr="Logo_ausgetauscht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164" y="6300789"/>
            <a:ext cx="1417637" cy="387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 descr="Logo Friedrich-Alexander-Universität Erlangen-Nürnberg – Technische Fakultät"/>
          <p:cNvPicPr>
            <a:picLocks noChangeAspect="1" noChangeArrowheads="1"/>
          </p:cNvPicPr>
          <p:nvPr userDrawn="1"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69903" y="6301501"/>
            <a:ext cx="1429411" cy="388800"/>
          </a:xfrm>
          <a:prstGeom prst="rect">
            <a:avLst/>
          </a:prstGeom>
          <a:noFill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0" r:id="rId2"/>
  </p:sldLayoutIdLst>
  <p:hf sldNum="0" hdr="0" ftr="0" dt="0"/>
  <p:txStyles>
    <p:titleStyle>
      <a:lvl1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2pPr>
      <a:lvl3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3pPr>
      <a:lvl4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4pPr>
      <a:lvl5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9pPr>
    </p:titleStyle>
    <p:bodyStyle>
      <a:lvl1pPr marL="358775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tx2"/>
        </a:buClr>
        <a:buFont typeface="Wingdings" pitchFamily="2" charset="2"/>
        <a:buChar char="n"/>
        <a:defRPr>
          <a:solidFill>
            <a:schemeClr val="tx1"/>
          </a:solidFill>
          <a:latin typeface="+mn-lt"/>
          <a:ea typeface="+mn-ea"/>
          <a:cs typeface="+mn-cs"/>
        </a:defRPr>
      </a:lvl1pPr>
      <a:lvl2pPr marL="719138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2pPr>
      <a:lvl3pPr marL="1079500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3pPr>
      <a:lvl4pPr marL="1439863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4pPr>
      <a:lvl5pPr marL="1798638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5pPr>
      <a:lvl6pPr marL="18875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6pPr>
      <a:lvl7pPr marL="23447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7pPr>
      <a:lvl8pPr marL="28019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8pPr>
      <a:lvl9pPr marL="32591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108.08481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0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github.com/neuraloperator/neuraloperator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6.emf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gif"/><Relationship Id="rId2" Type="http://schemas.openxmlformats.org/officeDocument/2006/relationships/image" Target="../media/image34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mathworld.wolfram.com/Tesseract.html" TargetMode="External"/><Relationship Id="rId3" Type="http://schemas.openxmlformats.org/officeDocument/2006/relationships/hyperlink" Target="https://en.wikipedia.org/wiki/Computational_fluid_dynamics" TargetMode="External"/><Relationship Id="rId7" Type="http://schemas.openxmlformats.org/officeDocument/2006/relationships/hyperlink" Target="https://de.wikipedia.org/wiki/Gitter_(Geometrie)" TargetMode="External"/><Relationship Id="rId2" Type="http://schemas.openxmlformats.org/officeDocument/2006/relationships/hyperlink" Target="https://en.wikipedia.org/wiki/Computational_chemistry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ythonmatplotlibtips.blogspot.com/2017/12/draw-electric-field-lines-without-mayavi.html" TargetMode="External"/><Relationship Id="rId5" Type="http://schemas.openxmlformats.org/officeDocument/2006/relationships/hyperlink" Target="https://iclr.cc/media/iclr-2021/Slides/3281.pdf" TargetMode="External"/><Relationship Id="rId4" Type="http://schemas.openxmlformats.org/officeDocument/2006/relationships/hyperlink" Target="https://en.wikipedia.org/wiki/Finite_element_method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7"/>
          <p:cNvSpPr>
            <a:spLocks noGrp="1" noChangeArrowheads="1"/>
          </p:cNvSpPr>
          <p:nvPr>
            <p:ph type="ctrTitle"/>
          </p:nvPr>
        </p:nvSpPr>
        <p:spPr>
          <a:xfrm>
            <a:off x="467547" y="476674"/>
            <a:ext cx="8207375" cy="1008063"/>
          </a:xfrm>
        </p:spPr>
        <p:txBody>
          <a:bodyPr>
            <a:noAutofit/>
          </a:bodyPr>
          <a:lstStyle/>
          <a:p>
            <a:pPr eaLnBrk="1" hangingPunct="1"/>
            <a:r>
              <a:rPr lang="en-US" noProof="0" dirty="0"/>
              <a:t>Neural Operators</a:t>
            </a:r>
            <a:br>
              <a:rPr lang="en-US" noProof="0" dirty="0"/>
            </a:br>
            <a:r>
              <a:rPr lang="en-US" noProof="0" dirty="0"/>
              <a:t>A seminar presentation</a:t>
            </a:r>
          </a:p>
        </p:txBody>
      </p:sp>
      <p:sp>
        <p:nvSpPr>
          <p:cNvPr id="5123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466727" y="1773239"/>
            <a:ext cx="8207375" cy="647700"/>
          </a:xfrm>
        </p:spPr>
        <p:txBody>
          <a:bodyPr/>
          <a:lstStyle/>
          <a:p>
            <a:pPr eaLnBrk="1" hangingPunct="1"/>
            <a:r>
              <a:rPr lang="en-US" noProof="0" dirty="0"/>
              <a:t>Alexander Luce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6ACD739-692E-3917-DED5-3E31D925B913}"/>
              </a:ext>
            </a:extLst>
          </p:cNvPr>
          <p:cNvSpPr txBox="1"/>
          <p:nvPr/>
        </p:nvSpPr>
        <p:spPr>
          <a:xfrm>
            <a:off x="395536" y="2492896"/>
            <a:ext cx="21602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sz="1200" noProof="0" dirty="0"/>
              <a:t>Based on</a:t>
            </a:r>
          </a:p>
          <a:p>
            <a:pPr eaLnBrk="1" hangingPunct="1"/>
            <a:r>
              <a:rPr lang="en-US" sz="1200" noProof="0" dirty="0">
                <a:hlinkClick r:id="rId3"/>
              </a:rPr>
              <a:t>Neural Operator: Learning Maps Between Function Spaces with Applications to PDEs</a:t>
            </a:r>
            <a:r>
              <a:rPr lang="en-US" sz="1200" noProof="0" dirty="0"/>
              <a:t> [0]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567822-DB1E-49C7-5918-DDE2956AB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goal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operators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FC95E2-15FE-CB5F-DE65-59C4A2DE3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773239"/>
            <a:ext cx="4033268" cy="4248150"/>
          </a:xfrm>
        </p:spPr>
        <p:txBody>
          <a:bodyPr/>
          <a:lstStyle/>
          <a:p>
            <a:r>
              <a:rPr lang="de-DE" dirty="0" err="1"/>
              <a:t>Solving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physics</a:t>
            </a:r>
            <a:r>
              <a:rPr lang="de-DE" dirty="0"/>
              <a:t> </a:t>
            </a:r>
            <a:r>
              <a:rPr lang="de-DE" dirty="0" err="1"/>
              <a:t>problems</a:t>
            </a:r>
            <a:endParaRPr lang="de-DE" dirty="0"/>
          </a:p>
          <a:p>
            <a:endParaRPr lang="de-DE" dirty="0"/>
          </a:p>
          <a:p>
            <a:r>
              <a:rPr lang="de-DE" dirty="0"/>
              <a:t>The </a:t>
            </a:r>
            <a:r>
              <a:rPr lang="de-DE" dirty="0" err="1"/>
              <a:t>physics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to </a:t>
            </a:r>
            <a:r>
              <a:rPr lang="de-DE" dirty="0" err="1"/>
              <a:t>solving</a:t>
            </a:r>
            <a:r>
              <a:rPr lang="de-DE" dirty="0"/>
              <a:t> PDEs</a:t>
            </a:r>
          </a:p>
          <a:p>
            <a:pPr lvl="1"/>
            <a:r>
              <a:rPr lang="de-DE" dirty="0"/>
              <a:t>slow and expensive</a:t>
            </a:r>
          </a:p>
          <a:p>
            <a:pPr lvl="1"/>
            <a:endParaRPr lang="de-DE" dirty="0"/>
          </a:p>
          <a:p>
            <a:r>
              <a:rPr lang="de-DE" dirty="0">
                <a:sym typeface="Wingdings" panose="05000000000000000000" pitchFamily="2" charset="2"/>
              </a:rPr>
              <a:t>Want to find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i="1" dirty="0" err="1">
                <a:sym typeface="Wingdings" panose="05000000000000000000" pitchFamily="2" charset="2"/>
              </a:rPr>
              <a:t>solution</a:t>
            </a:r>
            <a:r>
              <a:rPr lang="de-DE" i="1" dirty="0">
                <a:sym typeface="Wingdings" panose="05000000000000000000" pitchFamily="2" charset="2"/>
              </a:rPr>
              <a:t> Operator </a:t>
            </a:r>
          </a:p>
          <a:p>
            <a:pPr lvl="1"/>
            <a:r>
              <a:rPr lang="de-DE" dirty="0" err="1">
                <a:sym typeface="Wingdings" panose="05000000000000000000" pitchFamily="2" charset="2"/>
              </a:rPr>
              <a:t>Cheaply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map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input</a:t>
            </a:r>
            <a:r>
              <a:rPr lang="de-DE" dirty="0">
                <a:sym typeface="Wingdings" panose="05000000000000000000" pitchFamily="2" charset="2"/>
              </a:rPr>
              <a:t>  </a:t>
            </a:r>
            <a:r>
              <a:rPr lang="de-DE" dirty="0" err="1">
                <a:sym typeface="Wingdings" panose="05000000000000000000" pitchFamily="2" charset="2"/>
              </a:rPr>
              <a:t>parametrization</a:t>
            </a:r>
            <a:r>
              <a:rPr lang="de-DE" dirty="0">
                <a:sym typeface="Wingdings" panose="05000000000000000000" pitchFamily="2" charset="2"/>
              </a:rPr>
              <a:t> to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solution</a:t>
            </a:r>
            <a:endParaRPr lang="de-DE"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07C279E7-2F44-7140-F405-718158850B19}"/>
              </a:ext>
            </a:extLst>
          </p:cNvPr>
          <p:cNvGrpSpPr/>
          <p:nvPr/>
        </p:nvGrpSpPr>
        <p:grpSpPr>
          <a:xfrm>
            <a:off x="5859798" y="427751"/>
            <a:ext cx="3215112" cy="2007121"/>
            <a:chOff x="5652120" y="2060848"/>
            <a:chExt cx="3215112" cy="2007121"/>
          </a:xfrm>
        </p:grpSpPr>
        <p:pic>
          <p:nvPicPr>
            <p:cNvPr id="7" name="Grafik 6" descr="Ein Bild, das Zeichnung, Kinderkunst, Entwurf, Bett enthält.&#10;&#10;KI-generierte Inhalte können fehlerhaft sein.">
              <a:extLst>
                <a:ext uri="{FF2B5EF4-FFF2-40B4-BE49-F238E27FC236}">
                  <a16:creationId xmlns:a16="http://schemas.microsoft.com/office/drawing/2014/main" id="{5323D085-58AF-C0AE-9D8C-A692A1DFEB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52120" y="2060848"/>
              <a:ext cx="3117858" cy="2007121"/>
            </a:xfrm>
            <a:prstGeom prst="rect">
              <a:avLst/>
            </a:prstGeom>
          </p:spPr>
        </p:pic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206A86E-6413-578E-F2AE-93B6D6FC7A25}"/>
                </a:ext>
              </a:extLst>
            </p:cNvPr>
            <p:cNvSpPr txBox="1"/>
            <p:nvPr/>
          </p:nvSpPr>
          <p:spPr>
            <a:xfrm>
              <a:off x="8310971" y="3621828"/>
              <a:ext cx="55626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noProof="0" dirty="0"/>
                <a:t>[2]</a:t>
              </a:r>
              <a:endParaRPr lang="de-DE" dirty="0"/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D58C379D-303E-0D99-5AD9-478747248294}"/>
              </a:ext>
            </a:extLst>
          </p:cNvPr>
          <p:cNvGrpSpPr/>
          <p:nvPr/>
        </p:nvGrpSpPr>
        <p:grpSpPr>
          <a:xfrm>
            <a:off x="4911497" y="1579364"/>
            <a:ext cx="2403599" cy="1849636"/>
            <a:chOff x="5940152" y="4248573"/>
            <a:chExt cx="2403599" cy="1849636"/>
          </a:xfrm>
        </p:grpSpPr>
        <p:pic>
          <p:nvPicPr>
            <p:cNvPr id="9" name="Grafik 8" descr="Ein Bild, das Kunst, Türkis, Kreis enthält.&#10;&#10;KI-generierte Inhalte können fehlerhaft sein.">
              <a:extLst>
                <a:ext uri="{FF2B5EF4-FFF2-40B4-BE49-F238E27FC236}">
                  <a16:creationId xmlns:a16="http://schemas.microsoft.com/office/drawing/2014/main" id="{0CEF9D61-0527-B98B-B70C-9AB44EB7C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40152" y="4248573"/>
              <a:ext cx="1924921" cy="1772816"/>
            </a:xfrm>
            <a:prstGeom prst="rect">
              <a:avLst/>
            </a:prstGeom>
          </p:spPr>
        </p:pic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E4628E46-F991-4042-0A17-F20271CBD873}"/>
                </a:ext>
              </a:extLst>
            </p:cNvPr>
            <p:cNvSpPr txBox="1"/>
            <p:nvPr/>
          </p:nvSpPr>
          <p:spPr>
            <a:xfrm>
              <a:off x="7787490" y="5728877"/>
              <a:ext cx="55626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noProof="0" dirty="0"/>
                <a:t>[</a:t>
              </a:r>
              <a:r>
                <a:rPr lang="en-US" dirty="0"/>
                <a:t>1</a:t>
              </a:r>
              <a:r>
                <a:rPr lang="en-US" noProof="0" dirty="0"/>
                <a:t>]</a:t>
              </a:r>
              <a:endParaRPr lang="de-DE" dirty="0"/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8A7D0B8-486B-6FD5-5FBC-8F632BA804D8}"/>
              </a:ext>
            </a:extLst>
          </p:cNvPr>
          <p:cNvGrpSpPr/>
          <p:nvPr/>
        </p:nvGrpSpPr>
        <p:grpSpPr>
          <a:xfrm>
            <a:off x="6006399" y="3573016"/>
            <a:ext cx="3068511" cy="1491706"/>
            <a:chOff x="2915816" y="3151461"/>
            <a:chExt cx="3068511" cy="1491706"/>
          </a:xfrm>
        </p:grpSpPr>
        <p:pic>
          <p:nvPicPr>
            <p:cNvPr id="11" name="Grafik 10" descr="Ein Bild, das Kunst, Screenshot, Schuhwerk, Text enthält.&#10;&#10;KI-generierte Inhalte können fehlerhaft sein.">
              <a:extLst>
                <a:ext uri="{FF2B5EF4-FFF2-40B4-BE49-F238E27FC236}">
                  <a16:creationId xmlns:a16="http://schemas.microsoft.com/office/drawing/2014/main" id="{73D989AA-0A06-F544-4FF9-10C69C4A8E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5816" y="3151461"/>
              <a:ext cx="2950781" cy="1491706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77F490EB-BF9F-85D8-BFCF-F80CC48151A0}"/>
                </a:ext>
              </a:extLst>
            </p:cNvPr>
            <p:cNvSpPr txBox="1"/>
            <p:nvPr/>
          </p:nvSpPr>
          <p:spPr>
            <a:xfrm>
              <a:off x="5428066" y="4273835"/>
              <a:ext cx="55626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noProof="0" dirty="0"/>
                <a:t>[3]</a:t>
              </a:r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461632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155A10-E554-A339-74D2-FEFE3B65F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What's the problem?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F0A471-A254-AC25-127E-66C359AF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4" y="1196752"/>
            <a:ext cx="8569771" cy="4248150"/>
          </a:xfrm>
        </p:spPr>
        <p:txBody>
          <a:bodyPr/>
          <a:lstStyle/>
          <a:p>
            <a:r>
              <a:rPr lang="en-US" noProof="0" dirty="0"/>
              <a:t>Generalization to the diversity of parametrizations </a:t>
            </a:r>
          </a:p>
          <a:p>
            <a:pPr lvl="1"/>
            <a:r>
              <a:rPr lang="en-US" noProof="0" dirty="0"/>
              <a:t>Zero-shot performance</a:t>
            </a:r>
          </a:p>
          <a:p>
            <a:r>
              <a:rPr lang="en-US" noProof="0" dirty="0"/>
              <a:t>Severe limitation –&gt; NNs are </a:t>
            </a:r>
            <a:r>
              <a:rPr lang="en-US" b="1" noProof="0" dirty="0"/>
              <a:t>not </a:t>
            </a:r>
            <a:r>
              <a:rPr lang="en-US" noProof="0" dirty="0"/>
              <a:t>scale and discretization invariant</a:t>
            </a:r>
          </a:p>
          <a:p>
            <a:pPr lvl="1"/>
            <a:r>
              <a:rPr lang="en-US" dirty="0"/>
              <a:t>If the scale of the inference problem changes, it becomes useless</a:t>
            </a:r>
          </a:p>
          <a:p>
            <a:pPr lvl="1"/>
            <a:r>
              <a:rPr lang="en-US" dirty="0"/>
              <a:t>Bad generalization from large scale to fine scale </a:t>
            </a:r>
            <a:r>
              <a:rPr lang="en-US" noProof="0" dirty="0"/>
              <a:t>–&gt; different effects</a:t>
            </a:r>
            <a:endParaRPr lang="en-US" dirty="0"/>
          </a:p>
          <a:p>
            <a:r>
              <a:rPr lang="en-US" noProof="0" dirty="0"/>
              <a:t>Another problem –&gt; NNs do not return a function and can’t be queried everywhere</a:t>
            </a:r>
          </a:p>
          <a:p>
            <a:pPr lvl="1"/>
            <a:r>
              <a:rPr lang="en-US" dirty="0"/>
              <a:t>Training on variable meshes difficult</a:t>
            </a:r>
            <a:endParaRPr lang="en-US" noProof="0" dirty="0"/>
          </a:p>
          <a:p>
            <a:pPr lvl="1"/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5445FA8-653D-47D9-D416-FFF24A7A3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772" y="3789040"/>
            <a:ext cx="5760456" cy="229795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1292BE8-9BC2-0C07-6448-28A90B32FA24}"/>
              </a:ext>
            </a:extLst>
          </p:cNvPr>
          <p:cNvSpPr txBox="1"/>
          <p:nvPr/>
        </p:nvSpPr>
        <p:spPr>
          <a:xfrm>
            <a:off x="6983356" y="5805264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[0]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4251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BCA4D7-C1D9-788D-5D04-D5F40C0B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Operator </a:t>
            </a:r>
            <a:r>
              <a:rPr lang="de-DE" dirty="0" err="1"/>
              <a:t>learning</a:t>
            </a:r>
            <a:r>
              <a:rPr lang="de-DE" dirty="0"/>
              <a:t>  </a:t>
            </a:r>
            <a:r>
              <a:rPr lang="de-DE" dirty="0" err="1"/>
              <a:t>vs</a:t>
            </a:r>
            <a:r>
              <a:rPr lang="de-DE" dirty="0"/>
              <a:t>  </a:t>
            </a:r>
            <a:r>
              <a:rPr lang="de-DE" dirty="0" err="1"/>
              <a:t>Neural</a:t>
            </a:r>
            <a:r>
              <a:rPr lang="de-DE" dirty="0"/>
              <a:t> Networks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0F52DD-71C5-D1B8-F175-75E9AF3F59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773239"/>
            <a:ext cx="3745235" cy="908196"/>
          </a:xfrm>
        </p:spPr>
        <p:txBody>
          <a:bodyPr/>
          <a:lstStyle/>
          <a:p>
            <a:r>
              <a:rPr lang="de-DE" dirty="0" err="1"/>
              <a:t>Neural</a:t>
            </a:r>
            <a:r>
              <a:rPr lang="de-DE" dirty="0"/>
              <a:t> Networks</a:t>
            </a:r>
          </a:p>
          <a:p>
            <a:pPr lvl="1"/>
            <a:r>
              <a:rPr lang="de-DE" dirty="0"/>
              <a:t>Vector  &lt;–&gt; Vector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4E669EB7-C02E-4605-9487-660D646D4C6B}"/>
              </a:ext>
            </a:extLst>
          </p:cNvPr>
          <p:cNvSpPr txBox="1">
            <a:spLocks/>
          </p:cNvSpPr>
          <p:nvPr/>
        </p:nvSpPr>
        <p:spPr bwMode="auto">
          <a:xfrm>
            <a:off x="4932042" y="1773239"/>
            <a:ext cx="3457203" cy="9081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358775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tx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19138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2pPr>
            <a:lvl3pPr marL="1079500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3pPr>
            <a:lvl4pPr marL="1439863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4pPr>
            <a:lvl5pPr marL="1798638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5pPr>
            <a:lvl6pPr marL="18875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6pPr>
            <a:lvl7pPr marL="23447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7pPr>
            <a:lvl8pPr marL="28019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8pPr>
            <a:lvl9pPr marL="32591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de-DE" kern="0" dirty="0" err="1"/>
              <a:t>Neural</a:t>
            </a:r>
            <a:r>
              <a:rPr lang="de-DE" kern="0" dirty="0"/>
              <a:t> Operators</a:t>
            </a:r>
          </a:p>
          <a:p>
            <a:pPr lvl="1"/>
            <a:r>
              <a:rPr lang="de-DE" kern="0" dirty="0" err="1"/>
              <a:t>Function</a:t>
            </a:r>
            <a:r>
              <a:rPr lang="de-DE" kern="0" dirty="0"/>
              <a:t>  &lt;–&gt;  </a:t>
            </a:r>
            <a:r>
              <a:rPr lang="de-DE" kern="0" dirty="0" err="1"/>
              <a:t>Function</a:t>
            </a:r>
            <a:endParaRPr lang="de-DE" kern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33DE1D1-08D1-3CA3-62BA-7BBDD66B3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3113" y="3140968"/>
            <a:ext cx="2555223" cy="2420888"/>
          </a:xfrm>
          <a:prstGeom prst="rect">
            <a:avLst/>
          </a:prstGeom>
        </p:spPr>
      </p:pic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813F3A85-A9BA-3845-84C1-D250B1B8A4F3}"/>
              </a:ext>
            </a:extLst>
          </p:cNvPr>
          <p:cNvSpPr txBox="1">
            <a:spLocks/>
          </p:cNvSpPr>
          <p:nvPr/>
        </p:nvSpPr>
        <p:spPr bwMode="auto">
          <a:xfrm>
            <a:off x="6150138" y="4170340"/>
            <a:ext cx="1872208" cy="5315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358775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tx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19138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2pPr>
            <a:lvl3pPr marL="1079500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3pPr>
            <a:lvl4pPr marL="1439863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4pPr>
            <a:lvl5pPr marL="1798638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5pPr>
            <a:lvl6pPr marL="18875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6pPr>
            <a:lvl7pPr marL="23447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7pPr>
            <a:lvl8pPr marL="28019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8pPr>
            <a:lvl9pPr marL="32591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de-DE" kern="0" dirty="0" err="1"/>
              <a:t>Continuous</a:t>
            </a:r>
            <a:endParaRPr lang="de-DE" kern="0" dirty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62F17467-25D4-904A-B9BB-4FE38D62D0B9}"/>
              </a:ext>
            </a:extLst>
          </p:cNvPr>
          <p:cNvSpPr txBox="1">
            <a:spLocks/>
          </p:cNvSpPr>
          <p:nvPr/>
        </p:nvSpPr>
        <p:spPr bwMode="auto">
          <a:xfrm>
            <a:off x="1114797" y="4170340"/>
            <a:ext cx="1872208" cy="5315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358775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tx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19138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2pPr>
            <a:lvl3pPr marL="1079500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3pPr>
            <a:lvl4pPr marL="1439863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4pPr>
            <a:lvl5pPr marL="1798638" indent="-358775" algn="l" defTabSz="358775" rtl="0" eaLnBrk="1" fontAlgn="base" hangingPunct="1">
              <a:spcBef>
                <a:spcPct val="0"/>
              </a:spcBef>
              <a:spcAft>
                <a:spcPts val="9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5pPr>
            <a:lvl6pPr marL="18875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6pPr>
            <a:lvl7pPr marL="23447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7pPr>
            <a:lvl8pPr marL="28019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8pPr>
            <a:lvl9pPr marL="3259138" indent="-358775" algn="l" rtl="0" eaLnBrk="1" fontAlgn="base" hangingPunct="1">
              <a:spcBef>
                <a:spcPct val="0"/>
              </a:spcBef>
              <a:spcAft>
                <a:spcPct val="40000"/>
              </a:spcAft>
              <a:buClr>
                <a:schemeClr val="bg2"/>
              </a:buClr>
              <a:buFont typeface="Wingdings" pitchFamily="2" charset="2"/>
              <a:buChar char="n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 algn="r">
              <a:buNone/>
            </a:pPr>
            <a:r>
              <a:rPr lang="de-DE" kern="0" dirty="0" err="1"/>
              <a:t>Discrete</a:t>
            </a:r>
            <a:endParaRPr lang="de-DE" kern="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A51B500-E902-198D-B8CA-3F3151E3E85D}"/>
              </a:ext>
            </a:extLst>
          </p:cNvPr>
          <p:cNvSpPr txBox="1"/>
          <p:nvPr/>
        </p:nvSpPr>
        <p:spPr>
          <a:xfrm>
            <a:off x="5364088" y="51925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[4]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4641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an Operator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noProof="0" dirty="0"/>
                  <a:t>Physicists describe the shape of the world with functions and the dynamics of the world via operators</a:t>
                </a:r>
              </a:p>
              <a:p>
                <a:r>
                  <a:rPr lang="en-US" noProof="0" dirty="0"/>
                  <a:t>An operator </a:t>
                </a:r>
                <a:r>
                  <a:rPr lang="en-US" i="1" noProof="0" dirty="0"/>
                  <a:t>acts </a:t>
                </a:r>
                <a:r>
                  <a:rPr lang="en-US" noProof="0" dirty="0"/>
                  <a:t>on a function</a:t>
                </a:r>
              </a:p>
              <a:p>
                <a:endParaRPr lang="en-US" noProof="0" dirty="0"/>
              </a:p>
              <a:p>
                <a:r>
                  <a:rPr lang="en-US" noProof="0" dirty="0"/>
                  <a:t>Example </a:t>
                </a:r>
              </a:p>
              <a:p>
                <a:endParaRPr lang="en-US" i="1" noProof="0" dirty="0">
                  <a:latin typeface="Cambria Math" panose="02040503050406030204" pitchFamily="18" charset="0"/>
                </a:endParaRPr>
              </a:p>
              <a:p>
                <a:endParaRPr lang="en-US" i="1" noProof="0" dirty="0">
                  <a:latin typeface="Cambria Math" panose="02040503050406030204" pitchFamily="18" charset="0"/>
                </a:endParaRPr>
              </a:p>
              <a:p>
                <a:endParaRPr lang="en-US" b="0" i="1" noProof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en-US" noProof="0" dirty="0"/>
                  <a:t> is the </a:t>
                </a:r>
                <a:r>
                  <a:rPr lang="en-US" i="1" noProof="0" dirty="0"/>
                  <a:t>Differential Operator</a:t>
                </a:r>
              </a:p>
              <a:p>
                <a:pPr marL="1081088" lvl="3" indent="0">
                  <a:buNone/>
                </a:pPr>
                <a:endParaRPr lang="en-US" noProof="0" dirty="0"/>
              </a:p>
            </p:txBody>
          </p:sp>
        </mc:Choice>
        <mc:Fallback xmlns="">
          <p:sp>
            <p:nvSpPr>
              <p:cNvPr id="3" name="Inhaltsplatzhalt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34" t="-18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0965EA31-59DE-11A9-4248-8255AC193F67}"/>
              </a:ext>
            </a:extLst>
          </p:cNvPr>
          <p:cNvSpPr txBox="1"/>
          <p:nvPr/>
        </p:nvSpPr>
        <p:spPr>
          <a:xfrm>
            <a:off x="3743114" y="2666989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Function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6CF0453-B33C-1E56-2DDB-356810CD6904}"/>
              </a:ext>
            </a:extLst>
          </p:cNvPr>
          <p:cNvCxnSpPr>
            <a:cxnSpLocks/>
          </p:cNvCxnSpPr>
          <p:nvPr/>
        </p:nvCxnSpPr>
        <p:spPr bwMode="auto">
          <a:xfrm flipH="1">
            <a:off x="3707782" y="3030056"/>
            <a:ext cx="373748" cy="511838"/>
          </a:xfrm>
          <a:prstGeom prst="straightConnector1">
            <a:avLst/>
          </a:prstGeom>
          <a:ln>
            <a:tailEnd type="triangle"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1EE9F88-EBE9-C5B6-6657-B77432DB5716}"/>
              </a:ext>
            </a:extLst>
          </p:cNvPr>
          <p:cNvCxnSpPr>
            <a:cxnSpLocks/>
            <a:endCxn id="20" idx="0"/>
          </p:cNvCxnSpPr>
          <p:nvPr/>
        </p:nvCxnSpPr>
        <p:spPr bwMode="auto">
          <a:xfrm flipH="1">
            <a:off x="4389376" y="3047678"/>
            <a:ext cx="19571" cy="459330"/>
          </a:xfrm>
          <a:prstGeom prst="straightConnector1">
            <a:avLst/>
          </a:prstGeom>
          <a:ln>
            <a:tailEnd type="triangle"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9EC4E8DA-1A0B-7820-4E57-790170D41B7F}"/>
              </a:ext>
            </a:extLst>
          </p:cNvPr>
          <p:cNvGrpSpPr/>
          <p:nvPr/>
        </p:nvGrpSpPr>
        <p:grpSpPr>
          <a:xfrm>
            <a:off x="3517633" y="4028956"/>
            <a:ext cx="1494839" cy="391927"/>
            <a:chOff x="4265053" y="4169738"/>
            <a:chExt cx="1494839" cy="391927"/>
          </a:xfrm>
        </p:grpSpPr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76285254-3ED8-BEF3-2610-BA9F3E489E61}"/>
                </a:ext>
              </a:extLst>
            </p:cNvPr>
            <p:cNvSpPr txBox="1"/>
            <p:nvPr/>
          </p:nvSpPr>
          <p:spPr>
            <a:xfrm>
              <a:off x="4716016" y="4192333"/>
              <a:ext cx="10438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noProof="0" dirty="0"/>
                <a:t>Operator</a:t>
              </a:r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AA77C15F-743B-46DE-6795-68486A777632}"/>
                </a:ext>
              </a:extLst>
            </p:cNvPr>
            <p:cNvCxnSpPr>
              <a:cxnSpLocks/>
              <a:stCxn id="9" idx="1"/>
            </p:cNvCxnSpPr>
            <p:nvPr/>
          </p:nvCxnSpPr>
          <p:spPr bwMode="auto">
            <a:xfrm flipH="1" flipV="1">
              <a:off x="4265053" y="4169738"/>
              <a:ext cx="450963" cy="207261"/>
            </a:xfrm>
            <a:prstGeom prst="straightConnector1">
              <a:avLst/>
            </a:prstGeom>
            <a:ln>
              <a:tailEnd type="triangle"/>
            </a:ln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14E8BB00-62B0-58FB-5E50-3C7473A5E88A}"/>
                  </a:ext>
                </a:extLst>
              </p:cNvPr>
              <p:cNvSpPr txBox="1"/>
              <p:nvPr/>
            </p:nvSpPr>
            <p:spPr>
              <a:xfrm>
                <a:off x="2103376" y="3507008"/>
                <a:ext cx="4572000" cy="4912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081088" lvl="3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m:rPr>
                        <m:sty m:val="p"/>
                      </m:rPr>
                      <a:rPr lang="en-US" b="0" i="0" noProof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0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noProof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0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14E8BB00-62B0-58FB-5E50-3C7473A5E8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3376" y="3507008"/>
                <a:ext cx="4572000" cy="491288"/>
              </a:xfrm>
              <a:prstGeom prst="rect">
                <a:avLst/>
              </a:prstGeom>
              <a:blipFill>
                <a:blip r:embed="rId3"/>
                <a:stretch>
                  <a:fillRect b="-24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5994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14BAB-D31F-801E-C95C-EF8203BCD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That can‘t be 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56DD294-B564-C6E0-C1D6-3BEE1C22E7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9910" y="1773239"/>
                <a:ext cx="8208000" cy="4248150"/>
              </a:xfrm>
            </p:spPr>
            <p:txBody>
              <a:bodyPr/>
              <a:lstStyle/>
              <a:p>
                <a:r>
                  <a:rPr lang="en-US" noProof="0" dirty="0"/>
                  <a:t>The world is full of </a:t>
                </a:r>
                <a:r>
                  <a:rPr lang="en-US" i="1" noProof="0" dirty="0"/>
                  <a:t>fields</a:t>
                </a:r>
              </a:p>
              <a:p>
                <a:pPr lvl="1"/>
                <a:r>
                  <a:rPr lang="en-US" noProof="0" dirty="0"/>
                  <a:t>Electromagnetic fields, flow fields, gravitational fields, quantum fields</a:t>
                </a:r>
              </a:p>
              <a:p>
                <a:r>
                  <a:rPr lang="en-US" noProof="0" dirty="0"/>
                  <a:t>A </a:t>
                </a:r>
                <a:r>
                  <a:rPr lang="en-US" dirty="0"/>
                  <a:t>given f</a:t>
                </a:r>
                <a:r>
                  <a:rPr lang="en-US" noProof="0" dirty="0" err="1"/>
                  <a:t>ield</a:t>
                </a:r>
                <a:r>
                  <a:rPr lang="en-US" noProof="0" dirty="0"/>
                  <a:t> </a:t>
                </a:r>
                <a:r>
                  <a:rPr lang="en-US" i="1" noProof="0" dirty="0"/>
                  <a:t>is </a:t>
                </a:r>
                <a:r>
                  <a:rPr lang="en-US" noProof="0" dirty="0"/>
                  <a:t>functions which exist inside a </a:t>
                </a:r>
                <a:r>
                  <a:rPr lang="en-US" i="1" noProof="0" dirty="0"/>
                  <a:t>Vector space</a:t>
                </a:r>
              </a:p>
              <a:p>
                <a:r>
                  <a:rPr lang="en-US" noProof="0" dirty="0"/>
                  <a:t>The dynamics are described with operators </a:t>
                </a:r>
                <a:r>
                  <a:rPr lang="en-US" noProof="0" dirty="0">
                    <a:sym typeface="Wingdings" panose="05000000000000000000" pitchFamily="2" charset="2"/>
                  </a:rPr>
                  <a:t> PDE</a:t>
                </a:r>
                <a:endParaRPr lang="en-US" noProof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ℏ</m:t>
                    </m:r>
                    <m:f>
                      <m:f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noProof="0" smtClean="0">
                        <a:latin typeface="Cambria Math" panose="02040503050406030204" pitchFamily="18" charset="0"/>
                      </a:rPr>
                      <m:t>Ψ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noProof="0" smtClean="0">
                        <a:latin typeface="Cambria Math" panose="02040503050406030204" pitchFamily="18" charset="0"/>
                      </a:rPr>
                      <m:t>Ψ</m:t>
                    </m:r>
                  </m:oMath>
                </a14:m>
                <a:endParaRPr lang="en-US" noProof="0" dirty="0">
                  <a:sym typeface="Wingdings" panose="05000000000000000000" pitchFamily="2" charset="2"/>
                </a:endParaRPr>
              </a:p>
              <a:p>
                <a:pPr lvl="2"/>
                <a:r>
                  <a:rPr lang="en-US" noProof="0" dirty="0">
                    <a:sym typeface="Wingdings" panose="05000000000000000000" pitchFamily="2" charset="2"/>
                  </a:rPr>
                  <a:t>Schrödinger equation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Ψ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:</m:t>
                    </m:r>
                  </m:oMath>
                </a14:m>
                <a:r>
                  <a:rPr lang="en-US" noProof="0" dirty="0">
                    <a:sym typeface="Wingdings" panose="05000000000000000000" pitchFamily="2" charset="2"/>
                  </a:rPr>
                  <a:t> Function, </a:t>
                </a:r>
                <a14:m>
                  <m:oMath xmlns:m="http://schemas.openxmlformats.org/officeDocument/2006/math"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𝐻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&amp; 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𝑖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ℏ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Operators</m:t>
                    </m:r>
                  </m:oMath>
                </a14:m>
                <a:endParaRPr lang="en-US" noProof="0" dirty="0">
                  <a:sym typeface="Wingdings" panose="05000000000000000000" pitchFamily="2" charset="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𝜌</m:t>
                    </m:r>
                    <m:d>
                      <m:dPr>
                        <m:ctrlPr>
                          <a:rPr lang="de-DE" b="0" i="1" noProof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fPr>
                          <m:num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𝜕</m:t>
                            </m:r>
                            <m:acc>
                              <m:accPr>
                                <m:chr m:val="⃗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𝑣</m:t>
                                </m:r>
                              </m:e>
                            </m:acc>
                          </m:num>
                          <m:den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𝜕</m:t>
                            </m:r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𝑡</m:t>
                            </m:r>
                          </m:den>
                        </m:f>
                        <m:r>
                          <a:rPr lang="de-DE" b="0" i="1" noProof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+</m:t>
                        </m:r>
                        <m:d>
                          <m:dPr>
                            <m:ctrlP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𝑣</m:t>
                                </m:r>
                              </m:e>
                            </m:acc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∙</m:t>
                            </m:r>
                            <m:r>
                              <m:rPr>
                                <m:sty m:val="p"/>
                              </m:rP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∇</m:t>
                            </m:r>
                          </m:e>
                        </m:d>
                        <m:acc>
                          <m:accPr>
                            <m:chr m:val="⃗"/>
                            <m:ctrlP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accPr>
                          <m:e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=− </m:t>
                    </m:r>
                    <m:r>
                      <m:rPr>
                        <m:sty m:val="p"/>
                      </m:rP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∇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𝑝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𝜇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∆</m:t>
                    </m:r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𝑓</m:t>
                        </m:r>
                      </m:e>
                    </m:acc>
                  </m:oMath>
                </a14:m>
                <a:endParaRPr lang="en-US" noProof="0" dirty="0">
                  <a:sym typeface="Wingdings" panose="05000000000000000000" pitchFamily="2" charset="2"/>
                </a:endParaRPr>
              </a:p>
              <a:p>
                <a:pPr lvl="2"/>
                <a:r>
                  <a:rPr lang="en-US" noProof="0" dirty="0"/>
                  <a:t>Simplified Navier stokes equation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 &amp; 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noProof="0" dirty="0"/>
                  <a:t> Functions,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𝑣</m:t>
                            </m:r>
                          </m:e>
                        </m:acc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, </m:t>
                    </m:r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&amp; ∆</m:t>
                    </m:r>
                  </m:oMath>
                </a14:m>
                <a:r>
                  <a:rPr lang="en-US" noProof="0" dirty="0"/>
                  <a:t> Operators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56DD294-B564-C6E0-C1D6-3BEE1C22E7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910" y="1773239"/>
                <a:ext cx="8208000" cy="4248150"/>
              </a:xfrm>
              <a:blipFill>
                <a:blip r:embed="rId2"/>
                <a:stretch>
                  <a:fillRect l="-1559" t="-1865" b="-34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D5D8B48D-BE93-972C-B0AC-88BB65652CB2}"/>
              </a:ext>
            </a:extLst>
          </p:cNvPr>
          <p:cNvGrpSpPr/>
          <p:nvPr/>
        </p:nvGrpSpPr>
        <p:grpSpPr>
          <a:xfrm>
            <a:off x="6228184" y="2996952"/>
            <a:ext cx="2806840" cy="2806309"/>
            <a:chOff x="6012160" y="2781190"/>
            <a:chExt cx="2806840" cy="2806309"/>
          </a:xfrm>
        </p:grpSpPr>
        <p:pic>
          <p:nvPicPr>
            <p:cNvPr id="5" name="Grafik 4" descr="Ein Bild, das Farbigkeit, Screenshot, Kreis, Text enthält.&#10;&#10;KI-generierte Inhalte können fehlerhaft sein.">
              <a:extLst>
                <a:ext uri="{FF2B5EF4-FFF2-40B4-BE49-F238E27FC236}">
                  <a16:creationId xmlns:a16="http://schemas.microsoft.com/office/drawing/2014/main" id="{DD6A8C1E-A3C5-B71A-2E41-950A26BFB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12160" y="2781190"/>
              <a:ext cx="2806840" cy="2232248"/>
            </a:xfrm>
            <a:prstGeom prst="rect">
              <a:avLst/>
            </a:prstGeom>
          </p:spPr>
        </p:pic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14071D0-BE61-2DA1-C3C8-1A7ED5A4848D}"/>
                </a:ext>
              </a:extLst>
            </p:cNvPr>
            <p:cNvSpPr txBox="1"/>
            <p:nvPr/>
          </p:nvSpPr>
          <p:spPr>
            <a:xfrm>
              <a:off x="6227448" y="4941168"/>
              <a:ext cx="23762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 scalar field of an electric potential [</a:t>
              </a:r>
              <a:r>
                <a:rPr lang="en-US" dirty="0"/>
                <a:t>5</a:t>
              </a:r>
              <a:r>
                <a:rPr lang="en-US" noProof="0" dirty="0"/>
                <a:t>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2111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DDD7D0-A8AC-6EE4-F55E-F70FE2625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interested</a:t>
            </a:r>
            <a:r>
              <a:rPr lang="de-DE" dirty="0"/>
              <a:t> in?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7061F4-CFAB-1E68-8FB5-940441D23C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6725" y="1773239"/>
                <a:ext cx="4897363" cy="1799777"/>
              </a:xfrm>
            </p:spPr>
            <p:txBody>
              <a:bodyPr/>
              <a:lstStyle/>
              <a:p>
                <a:r>
                  <a:rPr lang="de-DE" dirty="0"/>
                  <a:t>We </a:t>
                </a:r>
                <a:r>
                  <a:rPr lang="de-DE" dirty="0" err="1"/>
                  <a:t>want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i="1" dirty="0" err="1"/>
                  <a:t>solution</a:t>
                </a:r>
                <a:r>
                  <a:rPr lang="de-DE" i="1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PDE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Initial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problem</a:t>
                </a:r>
                <a:endParaRPr lang="de-DE" dirty="0"/>
              </a:p>
              <a:p>
                <a:pPr lvl="1"/>
                <a:r>
                  <a:rPr lang="de-DE" dirty="0"/>
                  <a:t>Boundary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problem</a:t>
                </a:r>
                <a:endParaRPr lang="de-DE" dirty="0"/>
              </a:p>
              <a:p>
                <a:r>
                  <a:rPr lang="de-DE" dirty="0" err="1"/>
                  <a:t>Restrict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problem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subspace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vector</a:t>
                </a:r>
                <a:r>
                  <a:rPr lang="de-DE" dirty="0"/>
                  <a:t> </a:t>
                </a:r>
                <a:r>
                  <a:rPr lang="de-DE" dirty="0" err="1"/>
                  <a:t>space</a:t>
                </a:r>
                <a:r>
                  <a:rPr lang="de-DE" dirty="0"/>
                  <a:t> and </a:t>
                </a:r>
                <a:r>
                  <a:rPr lang="de-DE" dirty="0" err="1"/>
                  <a:t>employ</a:t>
                </a:r>
                <a:r>
                  <a:rPr lang="de-DE" dirty="0"/>
                  <a:t> </a:t>
                </a:r>
                <a:r>
                  <a:rPr lang="de-DE" dirty="0" err="1"/>
                  <a:t>boundary</a:t>
                </a:r>
                <a:r>
                  <a:rPr lang="de-DE" dirty="0"/>
                  <a:t> </a:t>
                </a:r>
                <a:r>
                  <a:rPr lang="de-DE" dirty="0" err="1"/>
                  <a:t>conditions</a:t>
                </a:r>
                <a:endParaRPr lang="de-DE" dirty="0"/>
              </a:p>
              <a:p>
                <a:endParaRPr lang="de-DE" b="0" i="1" dirty="0">
                  <a:latin typeface="Cambria Math" panose="02040503050406030204" pitchFamily="18" charset="0"/>
                </a:endParaRP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7061F4-CFAB-1E68-8FB5-940441D23C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6725" y="1773239"/>
                <a:ext cx="4897363" cy="1799777"/>
              </a:xfrm>
              <a:blipFill>
                <a:blip r:embed="rId2"/>
                <a:stretch>
                  <a:fillRect l="-2740" t="-7458" r="-1993" b="-30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Ein Bild, das Screenshot, Blau, Electric Blue (Farbe), Majorelle Blue enthält.&#10;&#10;KI-generierte Inhalte können fehlerhaft sein.">
            <a:extLst>
              <a:ext uri="{FF2B5EF4-FFF2-40B4-BE49-F238E27FC236}">
                <a16:creationId xmlns:a16="http://schemas.microsoft.com/office/drawing/2014/main" id="{3E2F6C97-F7CF-F052-CE9F-AAF7C84CBA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0152" y="1052736"/>
            <a:ext cx="2687960" cy="267956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B04D435-E5D7-5903-6EEE-4CE5103E31A5}"/>
                  </a:ext>
                </a:extLst>
              </p:cNvPr>
              <p:cNvSpPr txBox="1"/>
              <p:nvPr/>
            </p:nvSpPr>
            <p:spPr>
              <a:xfrm>
                <a:off x="1092646" y="4439194"/>
                <a:ext cx="4392488" cy="1556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r>
                  <a:rPr lang="de-DE" sz="2400" b="0" dirty="0"/>
                  <a:t>      </a:t>
                </a:r>
                <a14:m>
                  <m:oMath xmlns:m="http://schemas.openxmlformats.org/officeDocument/2006/math">
                    <m:acc>
                      <m:accPr>
                        <m:chr m:val="̿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;    </m:t>
                    </m:r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de-DE" sz="24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⊂</m:t>
                    </m:r>
                    <m:sSup>
                      <m:sSup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de-DE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;    </m:t>
                      </m:r>
                      <m:acc>
                        <m:accPr>
                          <m:chr m:val="⃗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de-DE" sz="2400" b="0" i="0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sz="2400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B04D435-E5D7-5903-6EEE-4CE5103E3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646" y="4439194"/>
                <a:ext cx="4392488" cy="15563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5672875-6846-1FD8-B2C6-9E80935384BA}"/>
              </a:ext>
            </a:extLst>
          </p:cNvPr>
          <p:cNvSpPr txBox="1"/>
          <p:nvPr/>
        </p:nvSpPr>
        <p:spPr>
          <a:xfrm>
            <a:off x="5220072" y="5237286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Boundary </a:t>
            </a:r>
            <a:r>
              <a:rPr lang="de-DE" dirty="0" err="1"/>
              <a:t>condition</a:t>
            </a:r>
            <a:endParaRPr lang="en-GB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E55FD64-09E7-9904-B6C2-C44083A63CDC}"/>
              </a:ext>
            </a:extLst>
          </p:cNvPr>
          <p:cNvSpPr txBox="1"/>
          <p:nvPr/>
        </p:nvSpPr>
        <p:spPr>
          <a:xfrm>
            <a:off x="3437003" y="3781493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Source </a:t>
            </a:r>
            <a:r>
              <a:rPr lang="de-DE" dirty="0" err="1"/>
              <a:t>terms</a:t>
            </a:r>
            <a:endParaRPr lang="en-GB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972BEAD-5F77-BA77-0070-1E2449F4CB3E}"/>
              </a:ext>
            </a:extLst>
          </p:cNvPr>
          <p:cNvSpPr txBox="1"/>
          <p:nvPr/>
        </p:nvSpPr>
        <p:spPr>
          <a:xfrm>
            <a:off x="107504" y="3953239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The </a:t>
            </a:r>
            <a:r>
              <a:rPr lang="de-DE" dirty="0" err="1"/>
              <a:t>operator</a:t>
            </a:r>
            <a:endParaRPr lang="en-GB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D3E16D2B-5424-4892-5143-2FF5EC0BD32D}"/>
              </a:ext>
            </a:extLst>
          </p:cNvPr>
          <p:cNvCxnSpPr/>
          <p:nvPr/>
        </p:nvCxnSpPr>
        <p:spPr bwMode="auto">
          <a:xfrm flipH="1">
            <a:off x="3111282" y="4102800"/>
            <a:ext cx="432048" cy="387980"/>
          </a:xfrm>
          <a:prstGeom prst="straightConnector1">
            <a:avLst/>
          </a:prstGeom>
          <a:noFill/>
          <a:ln w="28575">
            <a:solidFill>
              <a:srgbClr val="C00000"/>
            </a:solidFill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EA991AE6-789E-5040-26A6-5C73627F38A1}"/>
              </a:ext>
            </a:extLst>
          </p:cNvPr>
          <p:cNvGrpSpPr/>
          <p:nvPr/>
        </p:nvGrpSpPr>
        <p:grpSpPr>
          <a:xfrm>
            <a:off x="1659773" y="3726235"/>
            <a:ext cx="1489198" cy="777865"/>
            <a:chOff x="1858666" y="3748281"/>
            <a:chExt cx="1489198" cy="777865"/>
          </a:xfrm>
        </p:grpSpPr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6F8FEEEB-1643-8BBC-AD5B-D105C0049F86}"/>
                </a:ext>
              </a:extLst>
            </p:cNvPr>
            <p:cNvSpPr txBox="1"/>
            <p:nvPr/>
          </p:nvSpPr>
          <p:spPr>
            <a:xfrm>
              <a:off x="1858666" y="3748281"/>
              <a:ext cx="14891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The </a:t>
              </a:r>
              <a:r>
                <a:rPr lang="de-DE" dirty="0" err="1"/>
                <a:t>solution</a:t>
              </a:r>
              <a:endParaRPr lang="en-GB" dirty="0"/>
            </a:p>
          </p:txBody>
        </p: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2F86DDC4-34B8-0316-D63E-7E3BF36A6BC8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234520" y="4117613"/>
              <a:ext cx="100310" cy="408533"/>
            </a:xfrm>
            <a:prstGeom prst="straightConnector1">
              <a:avLst/>
            </a:prstGeom>
            <a:noFill/>
            <a:ln w="28575">
              <a:solidFill>
                <a:srgbClr val="C00000"/>
              </a:solidFill>
              <a:tailEnd type="triangle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3D93B2D-B991-0528-FB10-FCA96674415C}"/>
              </a:ext>
            </a:extLst>
          </p:cNvPr>
          <p:cNvCxnSpPr>
            <a:cxnSpLocks/>
          </p:cNvCxnSpPr>
          <p:nvPr/>
        </p:nvCxnSpPr>
        <p:spPr bwMode="auto">
          <a:xfrm>
            <a:off x="1126294" y="4321879"/>
            <a:ext cx="395429" cy="189249"/>
          </a:xfrm>
          <a:prstGeom prst="straightConnector1">
            <a:avLst/>
          </a:prstGeom>
          <a:noFill/>
          <a:ln w="28575">
            <a:solidFill>
              <a:srgbClr val="C00000"/>
            </a:solidFill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4443E55A-DC55-63CC-2E15-F19BF16B8470}"/>
                  </a:ext>
                </a:extLst>
              </p:cNvPr>
              <p:cNvSpPr txBox="1"/>
              <p:nvPr/>
            </p:nvSpPr>
            <p:spPr>
              <a:xfrm>
                <a:off x="6672064" y="2907721"/>
                <a:ext cx="122413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36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GB" sz="3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4443E55A-DC55-63CC-2E15-F19BF16B8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2064" y="2907721"/>
                <a:ext cx="1224136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F7CBDFCA-F0D3-7B47-92E7-98AE40723462}"/>
                  </a:ext>
                </a:extLst>
              </p:cNvPr>
              <p:cNvSpPr txBox="1"/>
              <p:nvPr/>
            </p:nvSpPr>
            <p:spPr>
              <a:xfrm>
                <a:off x="5985284" y="470089"/>
                <a:ext cx="12058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6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de-DE" sz="36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sz="3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F7CBDFCA-F0D3-7B47-92E7-98AE40723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5284" y="470089"/>
                <a:ext cx="1205880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C34AA7E6-8AFF-A455-7128-1FFF37A57273}"/>
              </a:ext>
            </a:extLst>
          </p:cNvPr>
          <p:cNvSpPr txBox="1"/>
          <p:nvPr/>
        </p:nvSpPr>
        <p:spPr>
          <a:xfrm>
            <a:off x="8674725" y="3429000"/>
            <a:ext cx="469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[6]</a:t>
            </a:r>
            <a:endParaRPr lang="en-GB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3A9416F-5BA6-14C9-652D-1137FEB64549}"/>
              </a:ext>
            </a:extLst>
          </p:cNvPr>
          <p:cNvSpPr txBox="1"/>
          <p:nvPr/>
        </p:nvSpPr>
        <p:spPr>
          <a:xfrm>
            <a:off x="4470896" y="1165617"/>
            <a:ext cx="1673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Aircraft </a:t>
            </a:r>
            <a:r>
              <a:rPr lang="de-DE" dirty="0" err="1"/>
              <a:t>wing</a:t>
            </a:r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03A32B5-FE2C-1726-0C32-16D583253A63}"/>
              </a:ext>
            </a:extLst>
          </p:cNvPr>
          <p:cNvCxnSpPr>
            <a:cxnSpLocks/>
          </p:cNvCxnSpPr>
          <p:nvPr/>
        </p:nvCxnSpPr>
        <p:spPr bwMode="auto">
          <a:xfrm>
            <a:off x="5652120" y="1502224"/>
            <a:ext cx="648072" cy="706898"/>
          </a:xfrm>
          <a:prstGeom prst="straightConnector1">
            <a:avLst/>
          </a:prstGeom>
          <a:noFill/>
          <a:ln w="28575">
            <a:solidFill>
              <a:srgbClr val="C00000"/>
            </a:solidFill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FFEFF9F3-4526-42F2-6894-3FC044E6FB5B}"/>
              </a:ext>
            </a:extLst>
          </p:cNvPr>
          <p:cNvSpPr/>
          <p:nvPr/>
        </p:nvSpPr>
        <p:spPr bwMode="auto">
          <a:xfrm>
            <a:off x="4932039" y="2101321"/>
            <a:ext cx="961499" cy="571806"/>
          </a:xfrm>
          <a:prstGeom prst="rightArrow">
            <a:avLst>
              <a:gd name="adj1" fmla="val 47779"/>
              <a:gd name="adj2" fmla="val 46668"/>
            </a:avLst>
          </a:prstGeom>
          <a:solidFill>
            <a:srgbClr val="C00000"/>
          </a:solidFill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40000"/>
              </a:spcAft>
              <a:buClrTx/>
              <a:buSzTx/>
              <a:buFont typeface="Wingdings" pitchFamily="2" charset="2"/>
              <a:buNone/>
              <a:tabLst/>
            </a:pPr>
            <a:r>
              <a:rPr kumimoji="0" lang="de-DE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Frutiger LT Com 55 Roman" pitchFamily="34" charset="0"/>
              </a:rPr>
              <a:t>Airflow</a:t>
            </a:r>
            <a:r>
              <a:rPr kumimoji="0" 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Frutiger LT Com 55 Roman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07705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EFAD04-D720-4250-36C8-B6CD07B8C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Introducing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operators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07DD1B7-9055-A5E0-4EDF-4071AFC7C2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6725" y="1214804"/>
                <a:ext cx="4572000" cy="4248150"/>
              </a:xfrm>
            </p:spPr>
            <p:txBody>
              <a:bodyPr/>
              <a:lstStyle/>
              <a:p>
                <a:pPr>
                  <a:lnSpc>
                    <a:spcPct val="150000"/>
                  </a:lnSpc>
                </a:pPr>
                <a:r>
                  <a:rPr lang="en-US" noProof="0" dirty="0"/>
                  <a:t>Green‘s functions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⃗"/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noProof="0" dirty="0"/>
                  <a:t> are a </a:t>
                </a:r>
                <a:r>
                  <a:rPr lang="en-US" i="1" noProof="0" dirty="0"/>
                  <a:t>theoretical </a:t>
                </a:r>
                <a:r>
                  <a:rPr lang="en-US" noProof="0" dirty="0"/>
                  <a:t>solution to any PDE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noProof="0" dirty="0"/>
                  <a:t>If we </a:t>
                </a:r>
                <a:r>
                  <a:rPr lang="en-US" i="1" noProof="0" dirty="0"/>
                  <a:t>knew</a:t>
                </a:r>
                <a:r>
                  <a:rPr lang="en-US" noProof="0" dirty="0"/>
                  <a:t> the Green‘s function </a:t>
                </a:r>
                <a:r>
                  <a:rPr lang="en-US" noProof="0" dirty="0">
                    <a:sym typeface="Wingdings" panose="05000000000000000000" pitchFamily="2" charset="2"/>
                  </a:rPr>
                  <a:t> </a:t>
                </a:r>
                <a:r>
                  <a:rPr lang="en-US" noProof="0" dirty="0"/>
                  <a:t>get the solution </a:t>
                </a:r>
                <a14:m>
                  <m:oMath xmlns:m="http://schemas.openxmlformats.org/officeDocument/2006/math">
                    <m:r>
                      <a:rPr lang="en-US" sz="1800" b="0" i="1" noProof="0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800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sz="1800" b="0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noProof="0" dirty="0"/>
                  <a:t> everywhere on our domain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noProof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en-US" noProof="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⃗"/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noProof="0" dirty="0"/>
                  <a:t> is only analytically tractable for the simplest problems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noProof="0" dirty="0"/>
                  <a:t>Let’s do AI and simply approximate the </a:t>
                </a:r>
                <a:r>
                  <a:rPr lang="en-US" i="1" noProof="0" dirty="0"/>
                  <a:t>true</a:t>
                </a:r>
                <a:r>
                  <a:rPr lang="en-US" noProof="0" dirty="0"/>
                  <a:t> Green‘s function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𝒢</m:t>
                        </m:r>
                      </m:e>
                      <m:sup>
                        <m:r>
                          <a:rPr lang="en-US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r>
                  <a:rPr lang="en-US" noProof="0" dirty="0"/>
                  <a:t>!</a:t>
                </a:r>
              </a:p>
              <a:p>
                <a:endParaRPr lang="en-US" noProof="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07DD1B7-9055-A5E0-4EDF-4071AFC7C2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6725" y="1214804"/>
                <a:ext cx="4572000" cy="4248150"/>
              </a:xfrm>
              <a:blipFill>
                <a:blip r:embed="rId2"/>
                <a:stretch>
                  <a:fillRect l="-2933" t="-7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F4BFC3FE-08CA-5424-913A-74C80C89D376}"/>
                  </a:ext>
                </a:extLst>
              </p:cNvPr>
              <p:cNvSpPr txBox="1"/>
              <p:nvPr/>
            </p:nvSpPr>
            <p:spPr>
              <a:xfrm>
                <a:off x="5436096" y="1550858"/>
                <a:ext cx="3419872" cy="12357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̿"/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acc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;    </m:t>
                      </m:r>
                      <m:acc>
                        <m:accPr>
                          <m:chr m:val="⃗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de-DE" sz="1800" b="0" i="0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sz="1800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1800" b="0" i="0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de-DE" sz="1800" b="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𝒢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sz="1800" b="0" i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F4BFC3FE-08CA-5424-913A-74C80C89D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6096" y="1550858"/>
                <a:ext cx="3419872" cy="1235788"/>
              </a:xfrm>
              <a:prstGeom prst="rect">
                <a:avLst/>
              </a:prstGeom>
              <a:blipFill>
                <a:blip r:embed="rId3"/>
                <a:stretch>
                  <a:fillRect t="-44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E99E3C3-AFB4-C6F5-1392-8317DF1CF498}"/>
                  </a:ext>
                </a:extLst>
              </p:cNvPr>
              <p:cNvSpPr txBox="1"/>
              <p:nvPr/>
            </p:nvSpPr>
            <p:spPr>
              <a:xfrm>
                <a:off x="1366450" y="4869160"/>
                <a:ext cx="6408549" cy="7789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nary>
                            <m:nary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||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𝒢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− 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𝒢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≈</m:t>
                          </m:r>
                        </m:e>
                      </m:func>
                      <m:limLow>
                        <m:limLow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p>
                        </m:lim>
                      </m:limLow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𝒢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||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E99E3C3-AFB4-C6F5-1392-8317DF1CF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450" y="4869160"/>
                <a:ext cx="6408549" cy="7789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0688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84DFF4A8-1F51-8B9A-921F-24BD966F1B8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does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𝓖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look</a:t>
                </a:r>
                <a:r>
                  <a:rPr lang="de-DE" dirty="0"/>
                  <a:t> like?</a:t>
                </a:r>
                <a:endParaRPr lang="en-GB" dirty="0"/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84DFF4A8-1F51-8B9A-921F-24BD966F1B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03" t="-26230" b="-475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B07CC7-9250-807D-AD18-F1249F0A6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494774"/>
            <a:ext cx="8208000" cy="424815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de-DE" dirty="0"/>
              <a:t>Lifting </a:t>
            </a:r>
          </a:p>
          <a:p>
            <a:pPr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>
              <a:buFont typeface="+mj-lt"/>
              <a:buAutoNum type="arabicPeriod"/>
            </a:pPr>
            <a:r>
              <a:rPr lang="de-DE" dirty="0"/>
              <a:t>Iterative </a:t>
            </a:r>
            <a:r>
              <a:rPr lang="de-DE" dirty="0" err="1"/>
              <a:t>kernel</a:t>
            </a:r>
            <a:r>
              <a:rPr lang="de-DE" dirty="0"/>
              <a:t> </a:t>
            </a:r>
            <a:r>
              <a:rPr lang="de-DE" dirty="0" err="1"/>
              <a:t>integration</a:t>
            </a:r>
            <a:endParaRPr lang="de-DE" dirty="0"/>
          </a:p>
          <a:p>
            <a:pPr>
              <a:buFont typeface="+mj-lt"/>
              <a:buAutoNum type="arabicPeriod"/>
            </a:pPr>
            <a:endParaRPr lang="de-DE" dirty="0"/>
          </a:p>
          <a:p>
            <a:pPr>
              <a:buFont typeface="+mj-lt"/>
              <a:buAutoNum type="arabicPeriod"/>
            </a:pPr>
            <a:endParaRPr lang="de-DE" dirty="0"/>
          </a:p>
          <a:p>
            <a:pPr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>
              <a:buFont typeface="+mj-lt"/>
              <a:buAutoNum type="arabicPeriod"/>
            </a:pPr>
            <a:r>
              <a:rPr lang="de-DE" dirty="0" err="1"/>
              <a:t>Projection</a:t>
            </a:r>
            <a:endParaRPr lang="en-GB" dirty="0"/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5070B152-82C9-AB6A-B23C-A434076DA7FC}"/>
              </a:ext>
            </a:extLst>
          </p:cNvPr>
          <p:cNvGrpSpPr/>
          <p:nvPr/>
        </p:nvGrpSpPr>
        <p:grpSpPr>
          <a:xfrm>
            <a:off x="2415253" y="704355"/>
            <a:ext cx="5225511" cy="1914525"/>
            <a:chOff x="2234327" y="979992"/>
            <a:chExt cx="5225511" cy="1914525"/>
          </a:xfrm>
        </p:grpSpPr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85365033-DE9D-0781-B2AE-1E1CEF5DCE1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90489" y="2369994"/>
              <a:ext cx="2544452" cy="338926"/>
            </a:xfrm>
            <a:prstGeom prst="line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4" name="Pfeil: nach rechts 13">
              <a:extLst>
                <a:ext uri="{FF2B5EF4-FFF2-40B4-BE49-F238E27FC236}">
                  <a16:creationId xmlns:a16="http://schemas.microsoft.com/office/drawing/2014/main" id="{5CBF4481-F0EE-0221-AFE4-47B4B1858B84}"/>
                </a:ext>
              </a:extLst>
            </p:cNvPr>
            <p:cNvSpPr/>
            <p:nvPr/>
          </p:nvSpPr>
          <p:spPr bwMode="auto">
            <a:xfrm>
              <a:off x="4022655" y="1770411"/>
              <a:ext cx="1080120" cy="288032"/>
            </a:xfrm>
            <a:prstGeom prst="rightArrow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40000"/>
                </a:spcAft>
                <a:buClrTx/>
                <a:buSzTx/>
                <a:buFont typeface="Wingdings" pitchFamily="2" charset="2"/>
                <a:buNone/>
                <a:tabLst/>
              </a:pPr>
              <a:endParaRPr kumimoji="0" lang="en-GB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Frutiger LT Com 55 Roman" pitchFamily="34" charset="0"/>
              </a:endParaRPr>
            </a:p>
          </p:txBody>
        </p:sp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427BB415-5270-02EE-A3CF-48DF186D3D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4327" y="1473875"/>
              <a:ext cx="1705021" cy="878641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9299944D-A861-3F46-D32F-B37F220D86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7713" y="979992"/>
              <a:ext cx="1762125" cy="1914525"/>
            </a:xfrm>
            <a:prstGeom prst="rect">
              <a:avLst/>
            </a:prstGeom>
          </p:spPr>
        </p:pic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ADE63400-E233-FED3-E9CC-ED40CC1FE5D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290489" y="1119934"/>
              <a:ext cx="2544452" cy="338926"/>
            </a:xfrm>
            <a:prstGeom prst="line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E42121A3-2D58-7A3F-801A-B3700371608A}"/>
              </a:ext>
            </a:extLst>
          </p:cNvPr>
          <p:cNvGrpSpPr/>
          <p:nvPr/>
        </p:nvGrpSpPr>
        <p:grpSpPr>
          <a:xfrm>
            <a:off x="2533801" y="4391520"/>
            <a:ext cx="5106963" cy="1762125"/>
            <a:chOff x="2463692" y="3763964"/>
            <a:chExt cx="5106963" cy="1762125"/>
          </a:xfrm>
        </p:grpSpPr>
        <p:pic>
          <p:nvPicPr>
            <p:cNvPr id="13" name="Grafik 12">
              <a:extLst>
                <a:ext uri="{FF2B5EF4-FFF2-40B4-BE49-F238E27FC236}">
                  <a16:creationId xmlns:a16="http://schemas.microsoft.com/office/drawing/2014/main" id="{79D5A284-2CF8-9486-C1C1-615B1F02F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8492313">
              <a:off x="5732330" y="3687764"/>
              <a:ext cx="1762125" cy="1914525"/>
            </a:xfrm>
            <a:prstGeom prst="rect">
              <a:avLst/>
            </a:prstGeom>
          </p:spPr>
        </p:pic>
        <p:pic>
          <p:nvPicPr>
            <p:cNvPr id="18" name="Grafik 17">
              <a:extLst>
                <a:ext uri="{FF2B5EF4-FFF2-40B4-BE49-F238E27FC236}">
                  <a16:creationId xmlns:a16="http://schemas.microsoft.com/office/drawing/2014/main" id="{CA1B9058-C764-0B41-5BFB-6274D46FD4F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63692" y="4178563"/>
              <a:ext cx="1475656" cy="877108"/>
            </a:xfrm>
            <a:prstGeom prst="rect">
              <a:avLst/>
            </a:prstGeom>
          </p:spPr>
        </p:pic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5744B54A-5CFE-6629-6D6B-CFEC87AB2AD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411671" y="5054742"/>
              <a:ext cx="2544452" cy="338926"/>
            </a:xfrm>
            <a:prstGeom prst="line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2" name="Pfeil: nach rechts 21">
              <a:extLst>
                <a:ext uri="{FF2B5EF4-FFF2-40B4-BE49-F238E27FC236}">
                  <a16:creationId xmlns:a16="http://schemas.microsoft.com/office/drawing/2014/main" id="{B290DEAC-C0AE-2393-02F0-28A2E0C366E7}"/>
                </a:ext>
              </a:extLst>
            </p:cNvPr>
            <p:cNvSpPr/>
            <p:nvPr/>
          </p:nvSpPr>
          <p:spPr bwMode="auto">
            <a:xfrm flipH="1">
              <a:off x="4143837" y="4455159"/>
              <a:ext cx="1080120" cy="288032"/>
            </a:xfrm>
            <a:prstGeom prst="rightArrow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40000"/>
                </a:spcAft>
                <a:buClrTx/>
                <a:buSzTx/>
                <a:buFont typeface="Wingdings" pitchFamily="2" charset="2"/>
                <a:buNone/>
                <a:tabLst/>
              </a:pPr>
              <a:endParaRPr kumimoji="0" lang="en-GB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Frutiger LT Com 55 Roman" pitchFamily="34" charset="0"/>
              </a:endParaRPr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B17775DD-9652-512A-85F8-AD798F33B5E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411671" y="3804682"/>
              <a:ext cx="2544452" cy="338926"/>
            </a:xfrm>
            <a:prstGeom prst="line">
              <a:avLst/>
            </a:prstGeom>
            <a:noFill/>
            <a:ln>
              <a:solidFill>
                <a:srgbClr val="FF0000"/>
              </a:solidFill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26" name="Textfeld 25">
            <a:extLst>
              <a:ext uri="{FF2B5EF4-FFF2-40B4-BE49-F238E27FC236}">
                <a16:creationId xmlns:a16="http://schemas.microsoft.com/office/drawing/2014/main" id="{1071E943-DEAC-3FCC-8EB5-A9A45B9AEAB6}"/>
              </a:ext>
            </a:extLst>
          </p:cNvPr>
          <p:cNvSpPr txBox="1"/>
          <p:nvPr/>
        </p:nvSpPr>
        <p:spPr>
          <a:xfrm>
            <a:off x="6992817" y="5814602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[7]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BFAAC81-FC80-39F0-A994-7397D0797259}"/>
                  </a:ext>
                </a:extLst>
              </p:cNvPr>
              <p:cNvSpPr txBox="1"/>
              <p:nvPr/>
            </p:nvSpPr>
            <p:spPr>
              <a:xfrm>
                <a:off x="5283701" y="2876985"/>
                <a:ext cx="2736304" cy="6601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sub>
                        <m:sup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BFAAC81-FC80-39F0-A994-7397D0797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3701" y="2876985"/>
                <a:ext cx="2736304" cy="6601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Pfeil: nach unten 27">
            <a:extLst>
              <a:ext uri="{FF2B5EF4-FFF2-40B4-BE49-F238E27FC236}">
                <a16:creationId xmlns:a16="http://schemas.microsoft.com/office/drawing/2014/main" id="{819A4F06-AC4F-6B54-CA57-B3AC97231149}"/>
              </a:ext>
            </a:extLst>
          </p:cNvPr>
          <p:cNvSpPr/>
          <p:nvPr/>
        </p:nvSpPr>
        <p:spPr bwMode="auto">
          <a:xfrm>
            <a:off x="6516216" y="2574438"/>
            <a:ext cx="360040" cy="229089"/>
          </a:xfrm>
          <a:prstGeom prst="downArrow">
            <a:avLst/>
          </a:prstGeom>
          <a:noFill/>
          <a:ln>
            <a:solidFill>
              <a:srgbClr val="FF0000"/>
            </a:solidFill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40000"/>
              </a:spcAft>
              <a:buClrTx/>
              <a:buSzTx/>
              <a:buFont typeface="Wingdings" pitchFamily="2" charset="2"/>
              <a:buNone/>
              <a:tabLst/>
            </a:pPr>
            <a:endParaRPr kumimoji="0" lang="en-GB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Frutiger LT Com 55 Roman" pitchFamily="34" charset="0"/>
            </a:endParaRPr>
          </a:p>
        </p:txBody>
      </p:sp>
      <p:sp>
        <p:nvSpPr>
          <p:cNvPr id="29" name="Pfeil: nach unten 28">
            <a:extLst>
              <a:ext uri="{FF2B5EF4-FFF2-40B4-BE49-F238E27FC236}">
                <a16:creationId xmlns:a16="http://schemas.microsoft.com/office/drawing/2014/main" id="{3D06754B-E20E-01A4-F8E7-D136AF5ED13B}"/>
              </a:ext>
            </a:extLst>
          </p:cNvPr>
          <p:cNvSpPr/>
          <p:nvPr/>
        </p:nvSpPr>
        <p:spPr bwMode="auto">
          <a:xfrm>
            <a:off x="6516216" y="3610560"/>
            <a:ext cx="360040" cy="220453"/>
          </a:xfrm>
          <a:prstGeom prst="downArrow">
            <a:avLst/>
          </a:prstGeom>
          <a:noFill/>
          <a:ln>
            <a:solidFill>
              <a:srgbClr val="FF0000"/>
            </a:solidFill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40000"/>
              </a:spcAft>
              <a:buClrTx/>
              <a:buSzTx/>
              <a:buFont typeface="Wingdings" pitchFamily="2" charset="2"/>
              <a:buNone/>
              <a:tabLst/>
            </a:pPr>
            <a:endParaRPr kumimoji="0" lang="en-GB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Frutiger LT Com 55 Roman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993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nhaltsplatzhalter 7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054F0D30-92D9-B2C7-D338-964DF2DFB0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4" t="4319" r="1112" b="54647"/>
          <a:stretch/>
        </p:blipFill>
        <p:spPr>
          <a:xfrm>
            <a:off x="0" y="0"/>
            <a:ext cx="14006105" cy="6858000"/>
          </a:xfr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BA3BE064-32E8-E1AD-3F88-00EB93EC38B9}"/>
              </a:ext>
            </a:extLst>
          </p:cNvPr>
          <p:cNvSpPr txBox="1"/>
          <p:nvPr/>
        </p:nvSpPr>
        <p:spPr>
          <a:xfrm>
            <a:off x="8604448" y="5661248"/>
            <a:ext cx="1296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[8]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71186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2FFEDC-F3CD-D01F-1236-31E1BA0E9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Architectures</a:t>
            </a:r>
            <a:endParaRPr lang="en-GB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AF2C14-932E-3C3A-EFC5-A96C7F1E16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noProof="0" dirty="0"/>
              <a:t>Layers</a:t>
            </a:r>
          </a:p>
          <a:p>
            <a:r>
              <a:rPr lang="en-US" noProof="0" dirty="0"/>
              <a:t>Fourier Neural Operator (FNO) [0]</a:t>
            </a:r>
          </a:p>
          <a:p>
            <a:r>
              <a:rPr lang="en-US" noProof="0" dirty="0"/>
              <a:t>Low-rank Neural Operator (LNO) [0]</a:t>
            </a:r>
          </a:p>
          <a:p>
            <a:r>
              <a:rPr lang="en-US" noProof="0" dirty="0"/>
              <a:t>(Multipole) Graph Neural Operator (GNO) [0]</a:t>
            </a:r>
          </a:p>
          <a:p>
            <a:endParaRPr lang="en-US" noProof="0" dirty="0"/>
          </a:p>
          <a:p>
            <a:pPr marL="0" indent="0">
              <a:buNone/>
            </a:pPr>
            <a:r>
              <a:rPr lang="en-US" b="1" noProof="0" dirty="0"/>
              <a:t>And advanced architectures</a:t>
            </a:r>
          </a:p>
          <a:p>
            <a:r>
              <a:rPr lang="en-US" noProof="0" dirty="0"/>
              <a:t>Adaptive </a:t>
            </a:r>
            <a:r>
              <a:rPr lang="en-US" dirty="0"/>
              <a:t>Fourier Neural vision transformer [8]</a:t>
            </a:r>
          </a:p>
          <a:p>
            <a:r>
              <a:rPr lang="en-US" noProof="0" dirty="0"/>
              <a:t>Physics </a:t>
            </a:r>
            <a:r>
              <a:rPr lang="en-US" dirty="0"/>
              <a:t>I</a:t>
            </a:r>
            <a:r>
              <a:rPr lang="en-US" noProof="0" dirty="0" err="1"/>
              <a:t>nformed</a:t>
            </a:r>
            <a:r>
              <a:rPr lang="en-US" dirty="0"/>
              <a:t> Neural Operator [9]</a:t>
            </a:r>
          </a:p>
          <a:p>
            <a:r>
              <a:rPr lang="en-US" dirty="0"/>
              <a:t>Message Passing Neural Operator [10]</a:t>
            </a:r>
          </a:p>
          <a:p>
            <a:r>
              <a:rPr lang="en-US" noProof="0" dirty="0"/>
              <a:t>Universal transformer Neural</a:t>
            </a:r>
            <a:r>
              <a:rPr lang="en-US" dirty="0"/>
              <a:t> Operator [11]</a:t>
            </a:r>
          </a:p>
          <a:p>
            <a:r>
              <a:rPr lang="en-US" noProof="0" dirty="0"/>
              <a:t>Geometry Informed Neural Operator [12]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9BF85AD-E6DC-BE18-DA1E-C2596AF6CA0A}"/>
              </a:ext>
            </a:extLst>
          </p:cNvPr>
          <p:cNvSpPr txBox="1"/>
          <p:nvPr/>
        </p:nvSpPr>
        <p:spPr>
          <a:xfrm>
            <a:off x="6732240" y="1166309"/>
            <a:ext cx="27375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>
                <a:hlinkClick r:id="rId2"/>
              </a:rPr>
              <a:t>Neural</a:t>
            </a:r>
            <a:r>
              <a:rPr lang="de-DE" dirty="0">
                <a:hlinkClick r:id="rId2"/>
              </a:rPr>
              <a:t> Operator GitHub</a:t>
            </a:r>
            <a:endParaRPr lang="de-DE" dirty="0"/>
          </a:p>
        </p:txBody>
      </p:sp>
      <p:pic>
        <p:nvPicPr>
          <p:cNvPr id="7" name="Grafik 6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8107B470-D068-59A6-B260-60EC39260B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514848"/>
            <a:ext cx="643525" cy="64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423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66712-81B6-7878-AF79-C8E4465E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Graph </a:t>
            </a:r>
            <a:r>
              <a:rPr lang="de-DE" dirty="0" err="1"/>
              <a:t>Neural</a:t>
            </a:r>
            <a:r>
              <a:rPr lang="de-DE" dirty="0"/>
              <a:t> Operator - GNO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79D5BAD-A804-7A9F-2664-6B990B510B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Kernel Integrator approximated by Nyström approximation with domain truncation</a:t>
                </a:r>
              </a:p>
              <a:p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Domain truncation: </a:t>
                </a:r>
                <a:br>
                  <a:rPr lang="en-GB" dirty="0"/>
                </a:br>
                <a:r>
                  <a:rPr lang="en-GB" dirty="0"/>
                  <a:t>Sample the Domain </a:t>
                </a:r>
                <a14:m>
                  <m:oMath xmlns:m="http://schemas.openxmlformats.org/officeDocument/2006/math">
                    <m:r>
                      <a:rPr lang="de-DE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GB" dirty="0"/>
                  <a:t> on subsets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⊂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GB" dirty="0"/>
              </a:p>
              <a:p>
                <a:r>
                  <a:rPr lang="en-GB" dirty="0"/>
                  <a:t>Naturally leads to a multiscale approach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79D5BAD-A804-7A9F-2664-6B990B510B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34" t="-1865" r="-66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46DE93F-2728-046C-4FBB-DF1DEB8F7A73}"/>
                  </a:ext>
                </a:extLst>
              </p:cNvPr>
              <p:cNvSpPr txBox="1"/>
              <p:nvPr/>
            </p:nvSpPr>
            <p:spPr>
              <a:xfrm>
                <a:off x="2051720" y="2214625"/>
                <a:ext cx="4572000" cy="5134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  <m:e>
                        <m:sSub>
                          <m:sSubPr>
                            <m:ctrlP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acc>
                              <m:accPr>
                                <m:chr m:val="⃗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de-DE" dirty="0"/>
                  <a:t> 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46DE93F-2728-046C-4FBB-DF1DEB8F7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1720" y="2214625"/>
                <a:ext cx="4572000" cy="513410"/>
              </a:xfrm>
              <a:prstGeom prst="rect">
                <a:avLst/>
              </a:prstGeom>
              <a:blipFill>
                <a:blip r:embed="rId3"/>
                <a:stretch>
                  <a:fillRect l="-9067" t="-95294" b="-1435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fik 10">
            <a:extLst>
              <a:ext uri="{FF2B5EF4-FFF2-40B4-BE49-F238E27FC236}">
                <a16:creationId xmlns:a16="http://schemas.microsoft.com/office/drawing/2014/main" id="{77C5F3B4-08AE-653F-AF52-87158BC92D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3478"/>
          <a:stretch/>
        </p:blipFill>
        <p:spPr>
          <a:xfrm>
            <a:off x="1115616" y="4084518"/>
            <a:ext cx="2318649" cy="1872208"/>
          </a:xfrm>
          <a:prstGeom prst="rect">
            <a:avLst/>
          </a:prstGeom>
        </p:spPr>
      </p:pic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63A7C4D9-7344-FDDE-A49B-45ED55D3A8DC}"/>
              </a:ext>
            </a:extLst>
          </p:cNvPr>
          <p:cNvGrpSpPr/>
          <p:nvPr/>
        </p:nvGrpSpPr>
        <p:grpSpPr>
          <a:xfrm>
            <a:off x="5673901" y="2786730"/>
            <a:ext cx="3470099" cy="2895717"/>
            <a:chOff x="5678234" y="2252449"/>
            <a:chExt cx="3470099" cy="2895717"/>
          </a:xfrm>
        </p:grpSpPr>
        <p:pic>
          <p:nvPicPr>
            <p:cNvPr id="7" name="Grafik 6" descr="Ein Bild, das Kunst, Screenshot, Symmetrie, gelb enthält.&#10;&#10;KI-generierte Inhalte können fehlerhaft sein.">
              <a:extLst>
                <a:ext uri="{FF2B5EF4-FFF2-40B4-BE49-F238E27FC236}">
                  <a16:creationId xmlns:a16="http://schemas.microsoft.com/office/drawing/2014/main" id="{C349A758-CB1F-130B-6AB7-1A41C42DD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463" t="1493" r="30313" b="1482"/>
            <a:stretch/>
          </p:blipFill>
          <p:spPr>
            <a:xfrm>
              <a:off x="6434318" y="3169421"/>
              <a:ext cx="1978997" cy="19787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F869D9CB-D32B-D8C9-5875-397C92215E9C}"/>
                    </a:ext>
                  </a:extLst>
                </p:cNvPr>
                <p:cNvSpPr txBox="1"/>
                <p:nvPr/>
              </p:nvSpPr>
              <p:spPr>
                <a:xfrm>
                  <a:off x="7678297" y="2252449"/>
                  <a:ext cx="1470036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de-DE" sz="1800" b="0" dirty="0" err="1">
                      <a:ea typeface="Cambria Math" panose="02040503050406030204" pitchFamily="18" charset="0"/>
                    </a:rPr>
                    <a:t>Complete</a:t>
                  </a:r>
                  <a:r>
                    <a:rPr lang="de-DE" sz="1800" b="0" dirty="0">
                      <a:ea typeface="Cambria Math" panose="02040503050406030204" pitchFamily="18" charset="0"/>
                    </a:rPr>
                    <a:t> Domain </a:t>
                  </a:r>
                  <a14:m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F869D9CB-D32B-D8C9-5875-397C92215E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8297" y="2252449"/>
                  <a:ext cx="1470036" cy="646331"/>
                </a:xfrm>
                <a:prstGeom prst="rect">
                  <a:avLst/>
                </a:prstGeom>
                <a:blipFill>
                  <a:blip r:embed="rId6"/>
                  <a:stretch>
                    <a:fillRect l="-3734" t="-4717" b="-1415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75121C86-7068-C85C-E319-DE46E23D3D82}"/>
                    </a:ext>
                  </a:extLst>
                </p:cNvPr>
                <p:cNvSpPr txBox="1"/>
                <p:nvPr/>
              </p:nvSpPr>
              <p:spPr>
                <a:xfrm>
                  <a:off x="5678234" y="2577073"/>
                  <a:ext cx="1512168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de-DE" dirty="0" err="1"/>
                    <a:t>Subset</a:t>
                  </a:r>
                  <a:r>
                    <a:rPr lang="de-DE" dirty="0"/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⊂ 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a14:m>
                  <a:endParaRPr lang="en-GB" dirty="0"/>
                </a:p>
                <a:p>
                  <a:endParaRPr lang="de-DE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75121C86-7068-C85C-E319-DE46E23D3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78234" y="2577073"/>
                  <a:ext cx="1512168" cy="646331"/>
                </a:xfrm>
                <a:prstGeom prst="rect">
                  <a:avLst/>
                </a:prstGeom>
                <a:blipFill>
                  <a:blip r:embed="rId7"/>
                  <a:stretch>
                    <a:fillRect l="-3629" t="-471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: nach rechts 12">
              <a:extLst>
                <a:ext uri="{FF2B5EF4-FFF2-40B4-BE49-F238E27FC236}">
                  <a16:creationId xmlns:a16="http://schemas.microsoft.com/office/drawing/2014/main" id="{A930372B-AD6D-C153-72F7-8F3A03D0CE51}"/>
                </a:ext>
              </a:extLst>
            </p:cNvPr>
            <p:cNvSpPr/>
            <p:nvPr/>
          </p:nvSpPr>
          <p:spPr bwMode="auto">
            <a:xfrm rot="2900350">
              <a:off x="6516103" y="2974401"/>
              <a:ext cx="285731" cy="127929"/>
            </a:xfrm>
            <a:prstGeom prst="rightArrow">
              <a:avLst/>
            </a:prstGeom>
            <a:solidFill>
              <a:srgbClr val="FF930F"/>
            </a:solidFill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40000"/>
                </a:spcAft>
                <a:buClrTx/>
                <a:buSzTx/>
                <a:buFont typeface="Wingdings" pitchFamily="2" charset="2"/>
                <a:buNone/>
                <a:tabLst/>
              </a:pPr>
              <a:endParaRPr kumimoji="0" lang="de-D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Frutiger LT Com 55 Roman" pitchFamily="34" charset="0"/>
              </a:endParaRPr>
            </a:p>
          </p:txBody>
        </p:sp>
        <p:sp>
          <p:nvSpPr>
            <p:cNvPr id="14" name="Pfeil: nach rechts 13">
              <a:extLst>
                <a:ext uri="{FF2B5EF4-FFF2-40B4-BE49-F238E27FC236}">
                  <a16:creationId xmlns:a16="http://schemas.microsoft.com/office/drawing/2014/main" id="{7839ECBC-6F69-4340-ACFC-CAF10F55C244}"/>
                </a:ext>
              </a:extLst>
            </p:cNvPr>
            <p:cNvSpPr/>
            <p:nvPr/>
          </p:nvSpPr>
          <p:spPr bwMode="auto">
            <a:xfrm rot="6403196">
              <a:off x="8061554" y="2982822"/>
              <a:ext cx="285731" cy="127929"/>
            </a:xfrm>
            <a:prstGeom prst="rightArrow">
              <a:avLst/>
            </a:prstGeom>
            <a:solidFill>
              <a:srgbClr val="482272"/>
            </a:solidFill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40000"/>
                </a:spcAft>
                <a:buClrTx/>
                <a:buSzTx/>
                <a:buFont typeface="Wingdings" pitchFamily="2" charset="2"/>
                <a:buNone/>
                <a:tabLst/>
              </a:pPr>
              <a:endParaRPr kumimoji="0" lang="de-D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Frutiger LT Com 55 Roman" pitchFamily="34" charset="0"/>
              </a:endParaRP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08DFE9CC-38E0-A34C-6D85-7B35BBCAB321}"/>
              </a:ext>
            </a:extLst>
          </p:cNvPr>
          <p:cNvSpPr txBox="1"/>
          <p:nvPr/>
        </p:nvSpPr>
        <p:spPr>
          <a:xfrm>
            <a:off x="3434265" y="4019855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scale</a:t>
            </a:r>
            <a:endParaRPr lang="en-GB" dirty="0"/>
          </a:p>
          <a:p>
            <a:endParaRPr lang="de-DE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07CC0A-5192-01B5-1498-B45316185333}"/>
              </a:ext>
            </a:extLst>
          </p:cNvPr>
          <p:cNvSpPr txBox="1"/>
          <p:nvPr/>
        </p:nvSpPr>
        <p:spPr>
          <a:xfrm>
            <a:off x="3434265" y="5359282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Global </a:t>
            </a:r>
            <a:r>
              <a:rPr lang="de-DE" dirty="0" err="1"/>
              <a:t>scale</a:t>
            </a:r>
            <a:endParaRPr lang="en-GB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7954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7437DB-BC91-9677-3361-4829409BE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Fourier </a:t>
            </a:r>
            <a:r>
              <a:rPr lang="de-DE" dirty="0" err="1"/>
              <a:t>Neural</a:t>
            </a:r>
            <a:r>
              <a:rPr lang="de-DE" dirty="0"/>
              <a:t> Operator - FNO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A459C8-3960-9914-069B-F54E2B97C9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6725" y="1773239"/>
                <a:ext cx="2881139" cy="4248150"/>
              </a:xfrm>
            </p:spPr>
            <p:txBody>
              <a:bodyPr/>
              <a:lstStyle/>
              <a:p>
                <a:r>
                  <a:rPr lang="de-DE" dirty="0"/>
                  <a:t>Regular </a:t>
                </a:r>
                <a:r>
                  <a:rPr lang="de-DE" dirty="0" err="1"/>
                  <a:t>grid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lift</a:t>
                </a:r>
                <a:r>
                  <a:rPr lang="de-DE" dirty="0"/>
                  <a:t> to </a:t>
                </a:r>
                <a:r>
                  <a:rPr lang="de-DE" dirty="0" err="1"/>
                  <a:t>regular</a:t>
                </a:r>
                <a:r>
                  <a:rPr lang="de-DE" dirty="0"/>
                  <a:t> </a:t>
                </a:r>
                <a:r>
                  <a:rPr lang="de-DE" dirty="0" err="1"/>
                  <a:t>space</a:t>
                </a:r>
                <a:endParaRPr lang="de-DE" dirty="0"/>
              </a:p>
              <a:p>
                <a:r>
                  <a:rPr lang="de-DE" dirty="0" err="1"/>
                  <a:t>Learnable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acc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fourier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A459C8-3960-9914-069B-F54E2B97C9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6725" y="1773239"/>
                <a:ext cx="2881139" cy="4248150"/>
              </a:xfrm>
              <a:blipFill>
                <a:blip r:embed="rId2"/>
                <a:stretch>
                  <a:fillRect l="-4661" t="-1865" r="-762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657BB58-C7E6-553C-BCE7-05D19844083C}"/>
                  </a:ext>
                </a:extLst>
              </p:cNvPr>
              <p:cNvSpPr txBox="1"/>
              <p:nvPr/>
            </p:nvSpPr>
            <p:spPr>
              <a:xfrm>
                <a:off x="474613" y="3212976"/>
                <a:ext cx="25501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)(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657BB58-C7E6-553C-BCE7-05D1984408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613" y="3212976"/>
                <a:ext cx="2550185" cy="276999"/>
              </a:xfrm>
              <a:prstGeom prst="rect">
                <a:avLst/>
              </a:prstGeom>
              <a:blipFill>
                <a:blip r:embed="rId4"/>
                <a:stretch>
                  <a:fillRect l="-957" t="-45652" r="-9569" b="-326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B99FC26E-8112-2738-E4C6-DFA578206B29}"/>
              </a:ext>
            </a:extLst>
          </p:cNvPr>
          <p:cNvSpPr/>
          <p:nvPr/>
        </p:nvSpPr>
        <p:spPr bwMode="auto">
          <a:xfrm rot="2195359">
            <a:off x="7643608" y="386200"/>
            <a:ext cx="1368152" cy="369332"/>
          </a:xfrm>
          <a:prstGeom prst="roundRect">
            <a:avLst/>
          </a:prstGeom>
          <a:noFill/>
          <a:ln>
            <a:solidFill>
              <a:srgbClr val="FF0000"/>
            </a:solidFill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40000"/>
              </a:spcAft>
              <a:buClrTx/>
              <a:buSzTx/>
              <a:buFont typeface="Wingdings" pitchFamily="2" charset="2"/>
              <a:buNone/>
              <a:tabLst/>
            </a:pPr>
            <a:r>
              <a:rPr kumimoji="0" 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Frutiger LT Com 55 Roman" pitchFamily="34" charset="0"/>
              </a:rPr>
              <a:t>Demo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B549A18-8B09-F0C6-34C1-9BC731A7B934}"/>
              </a:ext>
            </a:extLst>
          </p:cNvPr>
          <p:cNvGrpSpPr/>
          <p:nvPr/>
        </p:nvGrpSpPr>
        <p:grpSpPr>
          <a:xfrm>
            <a:off x="4283968" y="1576236"/>
            <a:ext cx="4797097" cy="4013004"/>
            <a:chOff x="4860032" y="1576236"/>
            <a:chExt cx="4221033" cy="3479393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7699DA2D-92F8-7BC1-FE3F-1239585E510F}"/>
                </a:ext>
              </a:extLst>
            </p:cNvPr>
            <p:cNvGrpSpPr/>
            <p:nvPr/>
          </p:nvGrpSpPr>
          <p:grpSpPr>
            <a:xfrm>
              <a:off x="4860032" y="1576236"/>
              <a:ext cx="4221033" cy="2147358"/>
              <a:chOff x="3194456" y="3284984"/>
              <a:chExt cx="5923722" cy="3013564"/>
            </a:xfrm>
          </p:grpSpPr>
          <p:pic>
            <p:nvPicPr>
              <p:cNvPr id="5" name="Grafik 4">
                <a:extLst>
                  <a:ext uri="{FF2B5EF4-FFF2-40B4-BE49-F238E27FC236}">
                    <a16:creationId xmlns:a16="http://schemas.microsoft.com/office/drawing/2014/main" id="{0BFD4C18-DCE2-28FF-F745-F4788CB240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94456" y="3284984"/>
                <a:ext cx="5923722" cy="2208951"/>
              </a:xfrm>
              <a:prstGeom prst="rect">
                <a:avLst/>
              </a:prstGeom>
            </p:spPr>
          </p:pic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C88A4C3-091A-5794-CE5D-E84B23E7FDD5}"/>
                  </a:ext>
                </a:extLst>
              </p:cNvPr>
              <p:cNvSpPr txBox="1"/>
              <p:nvPr/>
            </p:nvSpPr>
            <p:spPr>
              <a:xfrm>
                <a:off x="3194456" y="5512109"/>
                <a:ext cx="5040559" cy="786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AutoNum type="alphaLcParenR"/>
                </a:pPr>
                <a:r>
                  <a:rPr lang="de-DE" dirty="0" err="1"/>
                  <a:t>Full</a:t>
                </a:r>
                <a:r>
                  <a:rPr lang="de-DE" dirty="0"/>
                  <a:t> </a:t>
                </a:r>
                <a:r>
                  <a:rPr lang="de-DE" dirty="0" err="1"/>
                  <a:t>Neural</a:t>
                </a:r>
                <a:r>
                  <a:rPr lang="de-DE" dirty="0"/>
                  <a:t> Operator</a:t>
                </a:r>
              </a:p>
              <a:p>
                <a:pPr marL="342900" indent="-342900">
                  <a:buAutoNum type="alphaLcParenR"/>
                </a:pPr>
                <a:r>
                  <a:rPr lang="de-DE" dirty="0"/>
                  <a:t>Fourier </a:t>
                </a:r>
                <a:r>
                  <a:rPr lang="de-DE" dirty="0" err="1"/>
                  <a:t>layer</a:t>
                </a:r>
                <a:endParaRPr lang="de-DE" dirty="0"/>
              </a:p>
            </p:txBody>
          </p:sp>
        </p:grpSp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05DDA3D9-0525-8892-65B0-105A2577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60032" y="3933056"/>
              <a:ext cx="4053735" cy="1122573"/>
            </a:xfrm>
            <a:prstGeom prst="rect">
              <a:avLst/>
            </a:prstGeom>
          </p:spPr>
        </p:pic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09705C43-B745-8A1F-695F-1F83AD0A53B1}"/>
                </a:ext>
              </a:extLst>
            </p:cNvPr>
            <p:cNvCxnSpPr/>
            <p:nvPr/>
          </p:nvCxnSpPr>
          <p:spPr bwMode="auto">
            <a:xfrm flipH="1" flipV="1">
              <a:off x="6852321" y="2677020"/>
              <a:ext cx="360040" cy="1224136"/>
            </a:xfrm>
            <a:prstGeom prst="straightConnector1">
              <a:avLst/>
            </a:prstGeom>
            <a:ln>
              <a:tailEnd type="triangle"/>
            </a:ln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48724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50115-11FF-5440-6A76-63F454C82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Geometry </a:t>
            </a:r>
            <a:r>
              <a:rPr lang="de-DE" dirty="0" err="1"/>
              <a:t>Informed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Operator - GINO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56067E7D-2D9B-7B32-334D-714B00FD940F}"/>
              </a:ext>
            </a:extLst>
          </p:cNvPr>
          <p:cNvGrpSpPr/>
          <p:nvPr/>
        </p:nvGrpSpPr>
        <p:grpSpPr>
          <a:xfrm>
            <a:off x="827584" y="1016051"/>
            <a:ext cx="7256487" cy="2579111"/>
            <a:chOff x="466725" y="3609890"/>
            <a:chExt cx="7256487" cy="2579111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894DFD3E-2EC4-1374-5657-89B56589D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6725" y="3933056"/>
              <a:ext cx="7256487" cy="2255945"/>
            </a:xfrm>
            <a:prstGeom prst="rect">
              <a:avLst/>
            </a:prstGeom>
          </p:spPr>
        </p:pic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204D6A6F-ADC7-0B3D-048D-80CF88FB5C3A}"/>
                </a:ext>
              </a:extLst>
            </p:cNvPr>
            <p:cNvSpPr txBox="1"/>
            <p:nvPr/>
          </p:nvSpPr>
          <p:spPr>
            <a:xfrm>
              <a:off x="5076056" y="3609890"/>
              <a:ext cx="185522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dirty="0"/>
                <a:t>Geometry Decoder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C84E47D6-0FEF-58A4-CC62-61ABF2F6134C}"/>
                </a:ext>
              </a:extLst>
            </p:cNvPr>
            <p:cNvSpPr txBox="1"/>
            <p:nvPr/>
          </p:nvSpPr>
          <p:spPr>
            <a:xfrm>
              <a:off x="3320989" y="3789040"/>
              <a:ext cx="14939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dirty="0"/>
                <a:t>Global Model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74D460FD-24B5-150E-0FFD-9423757B6E01}"/>
                </a:ext>
              </a:extLst>
            </p:cNvPr>
            <p:cNvSpPr txBox="1"/>
            <p:nvPr/>
          </p:nvSpPr>
          <p:spPr>
            <a:xfrm>
              <a:off x="2048057" y="3609890"/>
              <a:ext cx="15551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dirty="0"/>
                <a:t>Geometry Encoder</a:t>
              </a:r>
            </a:p>
          </p:txBody>
        </p:sp>
      </p:grpSp>
      <p:pic>
        <p:nvPicPr>
          <p:cNvPr id="13" name="Grafik 12">
            <a:extLst>
              <a:ext uri="{FF2B5EF4-FFF2-40B4-BE49-F238E27FC236}">
                <a16:creationId xmlns:a16="http://schemas.microsoft.com/office/drawing/2014/main" id="{4CE7F799-0DC6-D965-1A41-907C6B962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5560" y="4355454"/>
            <a:ext cx="3742212" cy="1475247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798A1E21-34C6-A628-A4F8-4CE8354FD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76" y="4355454"/>
            <a:ext cx="3422535" cy="1521817"/>
          </a:xfrm>
          <a:prstGeom prst="rect">
            <a:avLst/>
          </a:prstGeom>
        </p:spPr>
      </p:pic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8A4BCE05-6BD9-187E-B0C9-6974C53C9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3918328"/>
            <a:ext cx="3889251" cy="2103060"/>
          </a:xfrm>
        </p:spPr>
        <p:txBody>
          <a:bodyPr/>
          <a:lstStyle/>
          <a:p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8A6D61B-1C7F-60B5-A9B3-EAAF294D6428}"/>
              </a:ext>
            </a:extLst>
          </p:cNvPr>
          <p:cNvSpPr txBox="1"/>
          <p:nvPr/>
        </p:nvSpPr>
        <p:spPr>
          <a:xfrm>
            <a:off x="8205288" y="5733256"/>
            <a:ext cx="1224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[12]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5201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11E4F6-5D9F-F347-EEE9-9D85D7D1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 – inverse design via </a:t>
            </a:r>
            <a:r>
              <a:rPr lang="de-DE" dirty="0" err="1"/>
              <a:t>Neural</a:t>
            </a:r>
            <a:r>
              <a:rPr lang="de-DE" dirty="0"/>
              <a:t> Operators</a:t>
            </a: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DD3FE2DD-3549-8F67-77CB-3167C3572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773239"/>
            <a:ext cx="2953147" cy="4248150"/>
          </a:xfrm>
        </p:spPr>
        <p:txBody>
          <a:bodyPr/>
          <a:lstStyle/>
          <a:p>
            <a:r>
              <a:rPr lang="de-DE" dirty="0" err="1"/>
              <a:t>Neural</a:t>
            </a:r>
            <a:r>
              <a:rPr lang="de-DE" dirty="0"/>
              <a:t> Operators </a:t>
            </a:r>
            <a:r>
              <a:rPr lang="de-DE" dirty="0" err="1"/>
              <a:t>are</a:t>
            </a:r>
            <a:r>
              <a:rPr lang="de-DE" dirty="0"/>
              <a:t>     </a:t>
            </a:r>
            <a:r>
              <a:rPr lang="de-DE" i="1" dirty="0"/>
              <a:t>fully </a:t>
            </a:r>
            <a:r>
              <a:rPr lang="de-DE" i="1" dirty="0" err="1"/>
              <a:t>differentiable</a:t>
            </a:r>
            <a:endParaRPr lang="de-DE" i="1" dirty="0"/>
          </a:p>
          <a:p>
            <a:endParaRPr lang="de-DE" i="1" dirty="0"/>
          </a:p>
          <a:p>
            <a:r>
              <a:rPr lang="de-DE" dirty="0"/>
              <a:t>Inverse design:</a:t>
            </a:r>
          </a:p>
          <a:p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Backprop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NO </a:t>
            </a:r>
          </a:p>
          <a:p>
            <a:r>
              <a:rPr lang="de-DE" dirty="0"/>
              <a:t>Update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vector</a:t>
            </a:r>
            <a:endParaRPr lang="de-DE" dirty="0"/>
          </a:p>
          <a:p>
            <a:r>
              <a:rPr lang="de-DE" dirty="0" err="1"/>
              <a:t>Iterate</a:t>
            </a:r>
            <a:endParaRPr lang="de-DE" dirty="0"/>
          </a:p>
          <a:p>
            <a:endParaRPr lang="de-DE" dirty="0"/>
          </a:p>
        </p:txBody>
      </p:sp>
      <p:pic>
        <p:nvPicPr>
          <p:cNvPr id="11" name="Grafik 10" descr="Ein Bild, das Screenshot, Diagramm, Text enthält.&#10;&#10;KI-generierte Inhalte können fehlerhaft sein.">
            <a:extLst>
              <a:ext uri="{FF2B5EF4-FFF2-40B4-BE49-F238E27FC236}">
                <a16:creationId xmlns:a16="http://schemas.microsoft.com/office/drawing/2014/main" id="{4FDCEEAE-6BE0-4FBB-41F3-DA7919C086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08" y="3637929"/>
            <a:ext cx="3754388" cy="2380282"/>
          </a:xfrm>
          <a:prstGeom prst="rect">
            <a:avLst/>
          </a:prstGeom>
        </p:spPr>
      </p:pic>
      <p:pic>
        <p:nvPicPr>
          <p:cNvPr id="13" name="Grafik 1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F0E9E2EC-DB77-94CF-9E0A-F196D918A3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6852" y="1196752"/>
            <a:ext cx="4762500" cy="2162175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DE6F357C-7625-2646-78D7-11B4452BE1D7}"/>
              </a:ext>
            </a:extLst>
          </p:cNvPr>
          <p:cNvSpPr txBox="1"/>
          <p:nvPr/>
        </p:nvSpPr>
        <p:spPr>
          <a:xfrm>
            <a:off x="8430518" y="5648879"/>
            <a:ext cx="773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[13]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20975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49D59C6-CF0B-15D0-7D5A-25A90FAAC72C}"/>
              </a:ext>
            </a:extLst>
          </p:cNvPr>
          <p:cNvSpPr/>
          <p:nvPr/>
        </p:nvSpPr>
        <p:spPr bwMode="auto">
          <a:xfrm>
            <a:off x="-2628800" y="-1539552"/>
            <a:ext cx="13753528" cy="92170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40000"/>
              </a:spcAft>
              <a:buClrTx/>
              <a:buSzTx/>
              <a:buFont typeface="Wingdings" pitchFamily="2" charset="2"/>
              <a:buNone/>
              <a:tabLst/>
            </a:pPr>
            <a:endParaRPr kumimoji="0" lang="de-D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Frutiger LT Com 55 Roman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8A517C9-F64B-F1FD-653A-0CF37623082D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Questions?</a:t>
            </a:r>
          </a:p>
        </p:txBody>
      </p:sp>
      <p:pic>
        <p:nvPicPr>
          <p:cNvPr id="9" name="Inhaltsplatzhalter 8" descr="Ein Bild, das Kugel, Planet, Erde, Astronomisches Objekt enthält.&#10;&#10;KI-generierte Inhalte können fehlerhaft sein.">
            <a:extLst>
              <a:ext uri="{FF2B5EF4-FFF2-40B4-BE49-F238E27FC236}">
                <a16:creationId xmlns:a16="http://schemas.microsoft.com/office/drawing/2014/main" id="{7E97CA79-0920-1292-1CE8-5DF7E465D0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0568" y="805315"/>
            <a:ext cx="9793088" cy="5508613"/>
          </a:xfr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6DFE10B-5EE5-3908-7F43-23FBBC9B02BC}"/>
              </a:ext>
            </a:extLst>
          </p:cNvPr>
          <p:cNvSpPr txBox="1"/>
          <p:nvPr/>
        </p:nvSpPr>
        <p:spPr>
          <a:xfrm>
            <a:off x="8482777" y="6338534"/>
            <a:ext cx="1458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>
                <a:solidFill>
                  <a:schemeClr val="bg1"/>
                </a:solidFill>
              </a:rPr>
              <a:t>[13]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0879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References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6725" y="836712"/>
            <a:ext cx="8208000" cy="5184677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>
                <a:latin typeface="Frutiger LT Com 45 Light"/>
              </a:rPr>
              <a:t>[0] 	</a:t>
            </a:r>
            <a:r>
              <a:rPr lang="en-US" noProof="0" dirty="0"/>
              <a:t>N. B. </a:t>
            </a:r>
            <a:r>
              <a:rPr lang="en-US" noProof="0" dirty="0" err="1"/>
              <a:t>Kovachki</a:t>
            </a:r>
            <a:r>
              <a:rPr lang="en-US" noProof="0" dirty="0"/>
              <a:t>, Z. Li, B. Liu, K. </a:t>
            </a:r>
            <a:r>
              <a:rPr lang="en-US" noProof="0" dirty="0" err="1"/>
              <a:t>Azizzadenesheli</a:t>
            </a:r>
            <a:r>
              <a:rPr lang="en-US" noProof="0" dirty="0"/>
              <a:t>, K. Bhattacharya, A. M. Stuart, A. 	</a:t>
            </a:r>
            <a:r>
              <a:rPr lang="en-US" noProof="0" dirty="0" err="1"/>
              <a:t>Anandkumar</a:t>
            </a:r>
            <a:r>
              <a:rPr lang="en-US" noProof="0" dirty="0"/>
              <a:t>: Neural Operator: Learning Maps Between Function Spaces. </a:t>
            </a:r>
            <a:r>
              <a:rPr lang="en-US" noProof="0" dirty="0" err="1"/>
              <a:t>CoRR</a:t>
            </a:r>
            <a:r>
              <a:rPr lang="en-US" noProof="0" dirty="0"/>
              <a:t> 	abs/2108.08481. 2021.</a:t>
            </a:r>
            <a:endParaRPr lang="en-US" noProof="0" dirty="0">
              <a:latin typeface="Frutiger LT Com 45 Light"/>
            </a:endParaRPr>
          </a:p>
          <a:p>
            <a:pPr marL="0" indent="0">
              <a:buNone/>
            </a:pPr>
            <a:r>
              <a:rPr lang="en-US" noProof="0" dirty="0">
                <a:latin typeface="Frutiger LT Com 45 Light"/>
              </a:rPr>
              <a:t>[1] </a:t>
            </a:r>
            <a:r>
              <a:rPr lang="en-US" noProof="0" dirty="0">
                <a:latin typeface="Frutiger LT Com 45 Light"/>
                <a:hlinkClick r:id="rId2"/>
              </a:rPr>
              <a:t>https://en.wikipedia.org/wiki/Computational_chemistry</a:t>
            </a:r>
            <a:endParaRPr lang="en-US" noProof="0" dirty="0">
              <a:latin typeface="Frutiger LT Com 45 Light"/>
            </a:endParaRPr>
          </a:p>
          <a:p>
            <a:pPr marL="0" indent="0">
              <a:buNone/>
            </a:pPr>
            <a:r>
              <a:rPr lang="en-US" dirty="0">
                <a:latin typeface="Frutiger LT Com 45 Light"/>
              </a:rPr>
              <a:t>[2] </a:t>
            </a:r>
            <a:r>
              <a:rPr lang="en-US" dirty="0">
                <a:latin typeface="Frutiger LT Com 45 Light"/>
                <a:hlinkClick r:id="rId3"/>
              </a:rPr>
              <a:t>https://en.wikipedia.org/wiki/Computational_fluid_dynamics</a:t>
            </a:r>
            <a:r>
              <a:rPr lang="en-US" dirty="0">
                <a:latin typeface="Frutiger LT Com 45 Light"/>
              </a:rPr>
              <a:t> </a:t>
            </a:r>
          </a:p>
          <a:p>
            <a:pPr marL="0" indent="0">
              <a:buNone/>
            </a:pPr>
            <a:r>
              <a:rPr lang="en-US" noProof="0" dirty="0">
                <a:latin typeface="Frutiger LT Com 45 Light"/>
              </a:rPr>
              <a:t>[3] </a:t>
            </a:r>
            <a:r>
              <a:rPr lang="en-US" noProof="0" dirty="0">
                <a:latin typeface="Frutiger LT Com 45 Light"/>
                <a:hlinkClick r:id="rId4"/>
              </a:rPr>
              <a:t>https://en.wikipedia.org/wiki/Finite_element_method</a:t>
            </a:r>
            <a:r>
              <a:rPr lang="en-US" noProof="0" dirty="0">
                <a:latin typeface="Frutiger LT Com 45 Light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Frutiger LT Com 45 Light"/>
              </a:rPr>
              <a:t>[4] </a:t>
            </a:r>
            <a:r>
              <a:rPr lang="en-US" dirty="0">
                <a:latin typeface="Frutiger LT Com 45 Light"/>
                <a:hlinkClick r:id="rId5"/>
              </a:rPr>
              <a:t>https://iclr.cc/media/iclr-2021/Slides/3281.pdf</a:t>
            </a:r>
            <a:r>
              <a:rPr lang="en-US" dirty="0">
                <a:latin typeface="Frutiger LT Com 45 Light"/>
              </a:rPr>
              <a:t> </a:t>
            </a:r>
            <a:endParaRPr lang="en-US" dirty="0">
              <a:latin typeface="Frutiger LT Com 45 Light"/>
              <a:hlinkClick r:id="rId6"/>
            </a:endParaRPr>
          </a:p>
          <a:p>
            <a:pPr marL="0" indent="0">
              <a:buNone/>
            </a:pPr>
            <a:r>
              <a:rPr lang="en-US" noProof="0" dirty="0">
                <a:latin typeface="Frutiger LT Com 45 Light"/>
              </a:rPr>
              <a:t>[5] </a:t>
            </a:r>
            <a:r>
              <a:rPr lang="en-US" noProof="0" dirty="0">
                <a:latin typeface="Frutiger LT Com 45 Light"/>
                <a:hlinkClick r:id="rId6"/>
              </a:rPr>
              <a:t>Draw electric field lines without </a:t>
            </a:r>
            <a:r>
              <a:rPr lang="en-US" noProof="0" dirty="0" err="1">
                <a:latin typeface="Frutiger LT Com 45 Light"/>
                <a:hlinkClick r:id="rId6"/>
              </a:rPr>
              <a:t>Mayavi</a:t>
            </a:r>
            <a:r>
              <a:rPr lang="en-US" noProof="0" dirty="0">
                <a:latin typeface="Frutiger LT Com 45 Light"/>
                <a:hlinkClick r:id="rId6"/>
              </a:rPr>
              <a:t> </a:t>
            </a:r>
            <a:endParaRPr lang="en-US" noProof="0" dirty="0">
              <a:latin typeface="Frutiger LT Com 45 Light"/>
            </a:endParaRPr>
          </a:p>
          <a:p>
            <a:pPr marL="0" indent="0">
              <a:buNone/>
            </a:pPr>
            <a:r>
              <a:rPr lang="en-US" dirty="0">
                <a:latin typeface="Frutiger LT Com 45 Light"/>
              </a:rPr>
              <a:t>[6] </a:t>
            </a:r>
            <a:r>
              <a:rPr lang="en-US" dirty="0">
                <a:latin typeface="Frutiger LT Com 45 Light"/>
                <a:hlinkClick r:id="rId7"/>
              </a:rPr>
              <a:t>Gitter (</a:t>
            </a:r>
            <a:r>
              <a:rPr lang="en-US" dirty="0" err="1">
                <a:latin typeface="Frutiger LT Com 45 Light"/>
                <a:hlinkClick r:id="rId7"/>
              </a:rPr>
              <a:t>Geometrie</a:t>
            </a:r>
            <a:r>
              <a:rPr lang="en-US" dirty="0">
                <a:latin typeface="Frutiger LT Com 45 Light"/>
                <a:hlinkClick r:id="rId7"/>
              </a:rPr>
              <a:t>)</a:t>
            </a:r>
            <a:endParaRPr lang="en-US" dirty="0">
              <a:latin typeface="Frutiger LT Com 45 Light"/>
            </a:endParaRPr>
          </a:p>
          <a:p>
            <a:pPr marL="0" indent="0">
              <a:buNone/>
            </a:pPr>
            <a:r>
              <a:rPr lang="en-US" noProof="0" dirty="0">
                <a:latin typeface="Frutiger LT Com 45 Light"/>
              </a:rPr>
              <a:t>[7] </a:t>
            </a:r>
            <a:r>
              <a:rPr lang="en-US" noProof="0" dirty="0">
                <a:latin typeface="Frutiger LT Com 45 Light"/>
                <a:hlinkClick r:id="rId8"/>
              </a:rPr>
              <a:t>Tesseract </a:t>
            </a:r>
            <a:r>
              <a:rPr lang="en-US" noProof="0" dirty="0" err="1">
                <a:latin typeface="Frutiger LT Com 45 Light"/>
                <a:hlinkClick r:id="rId8"/>
              </a:rPr>
              <a:t>MathWorld</a:t>
            </a:r>
            <a:endParaRPr lang="en-US" noProof="0" dirty="0">
              <a:latin typeface="Frutiger LT Com 45 Light"/>
            </a:endParaRPr>
          </a:p>
          <a:p>
            <a:pPr marL="0" indent="0">
              <a:buNone/>
            </a:pPr>
            <a:r>
              <a:rPr lang="en-US" dirty="0">
                <a:latin typeface="Frutiger LT Com 45 Light"/>
              </a:rPr>
              <a:t>[8] </a:t>
            </a:r>
            <a:r>
              <a:rPr lang="en-GB" dirty="0"/>
              <a:t>J. Pathak, S. Subramanian, P. Harrington, S. Raja, A. Chattopadhyay, M. Mardani, T. Kurth, D. Hall, Z. Li, K. </a:t>
            </a:r>
            <a:r>
              <a:rPr lang="en-GB" dirty="0" err="1"/>
              <a:t>Azizzadenesheli</a:t>
            </a:r>
            <a:r>
              <a:rPr lang="en-GB" dirty="0"/>
              <a:t>, P. </a:t>
            </a:r>
            <a:r>
              <a:rPr lang="en-GB" dirty="0" err="1"/>
              <a:t>Hassanzadeh</a:t>
            </a:r>
            <a:r>
              <a:rPr lang="en-GB" dirty="0"/>
              <a:t>, K. Kashinath, A. </a:t>
            </a:r>
            <a:r>
              <a:rPr lang="en-GB" dirty="0" err="1"/>
              <a:t>Anandkumar</a:t>
            </a:r>
            <a:r>
              <a:rPr lang="en-GB" dirty="0"/>
              <a:t>: </a:t>
            </a:r>
            <a:r>
              <a:rPr lang="en-GB" dirty="0" err="1"/>
              <a:t>FourcastNet</a:t>
            </a:r>
            <a:r>
              <a:rPr lang="en-GB" dirty="0"/>
              <a:t>: A global data-driven high-resolution weather model using adaptive Fourier neural operators. </a:t>
            </a:r>
            <a:r>
              <a:rPr lang="en-GB" dirty="0" err="1"/>
              <a:t>CoRR</a:t>
            </a:r>
            <a:r>
              <a:rPr lang="en-GB" dirty="0"/>
              <a:t> abs/2202.11214. 2022.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5436769-B519-64EF-AA6E-5BC52F0969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Fourcastnet: A global data-driven high-resolution weather model using adaptive fourier neural operators</a:t>
            </a:r>
            <a:r>
              <a:rPr kumimoji="0" lang="en-US" altLang="en-US" sz="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0681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EB77BF-12DB-C7D8-DAB7-3498E94CD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References</a:t>
            </a:r>
            <a:endParaRPr lang="en-GB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25ECD1-BAE9-EEA7-43BD-1DF1993985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980728"/>
            <a:ext cx="8208000" cy="5040661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/>
              <a:t>[9] </a:t>
            </a:r>
            <a:r>
              <a:rPr lang="en-GB" dirty="0"/>
              <a:t>Z. Li, H. Zheng, N. </a:t>
            </a:r>
            <a:r>
              <a:rPr lang="en-GB" dirty="0" err="1"/>
              <a:t>Kovachki</a:t>
            </a:r>
            <a:r>
              <a:rPr lang="en-GB" dirty="0"/>
              <a:t>, D. Jin, H. Chen, B. Liu, K. </a:t>
            </a:r>
            <a:r>
              <a:rPr lang="en-GB" dirty="0" err="1"/>
              <a:t>Azizzadenesheli</a:t>
            </a:r>
            <a:r>
              <a:rPr lang="en-GB" dirty="0"/>
              <a:t>, A. </a:t>
            </a:r>
            <a:r>
              <a:rPr lang="en-GB" dirty="0" err="1"/>
              <a:t>Anandkumar</a:t>
            </a:r>
            <a:r>
              <a:rPr lang="en-GB" dirty="0"/>
              <a:t>: Physics-Informed Neural Operator for Learning Partial Differential Equations. ACM / IMS J. Data Sci. 1(3), Article 9. 2024.</a:t>
            </a:r>
          </a:p>
          <a:p>
            <a:pPr marL="0" indent="0">
              <a:buNone/>
            </a:pPr>
            <a:r>
              <a:rPr lang="en-GB" noProof="0" dirty="0"/>
              <a:t>[10] </a:t>
            </a:r>
            <a:r>
              <a:rPr lang="en-GB" dirty="0"/>
              <a:t>J. Brandstetter, D. Worrall, M. Welling: Message Passing Neural PDE Solvers. </a:t>
            </a:r>
            <a:r>
              <a:rPr lang="en-GB" dirty="0" err="1"/>
              <a:t>CoRR</a:t>
            </a:r>
            <a:r>
              <a:rPr lang="en-GB" dirty="0"/>
              <a:t> abs/2202.03376. 2023.</a:t>
            </a: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[11] </a:t>
            </a:r>
            <a:r>
              <a:rPr lang="en-GB" dirty="0"/>
              <a:t>B. </a:t>
            </a:r>
            <a:r>
              <a:rPr lang="en-GB" dirty="0" err="1"/>
              <a:t>Alkin</a:t>
            </a:r>
            <a:r>
              <a:rPr lang="en-GB" dirty="0"/>
              <a:t>, A. </a:t>
            </a:r>
            <a:r>
              <a:rPr lang="en-GB" dirty="0" err="1"/>
              <a:t>Fürst</a:t>
            </a:r>
            <a:r>
              <a:rPr lang="en-GB" dirty="0"/>
              <a:t>, S. Schmid, L. Gruber, M. </a:t>
            </a:r>
            <a:r>
              <a:rPr lang="en-GB" dirty="0" err="1"/>
              <a:t>Holzleitner</a:t>
            </a:r>
            <a:r>
              <a:rPr lang="en-GB" dirty="0"/>
              <a:t>, J. Brandstetter: Universal Physics Transformers: A Framework For Efficiently Scaling Neural Operators. </a:t>
            </a:r>
            <a:r>
              <a:rPr lang="en-GB" dirty="0" err="1"/>
              <a:t>CoRR</a:t>
            </a:r>
            <a:r>
              <a:rPr lang="en-GB" dirty="0"/>
              <a:t> abs/2402.12365. 2025.</a:t>
            </a:r>
          </a:p>
          <a:p>
            <a:pPr marL="0" indent="0">
              <a:buNone/>
            </a:pPr>
            <a:r>
              <a:rPr lang="en-GB" noProof="0" dirty="0"/>
              <a:t>[12] </a:t>
            </a:r>
            <a:r>
              <a:rPr lang="en-GB" dirty="0"/>
              <a:t>Z. Li, N. B. </a:t>
            </a:r>
            <a:r>
              <a:rPr lang="en-GB" dirty="0" err="1"/>
              <a:t>Kovachki</a:t>
            </a:r>
            <a:r>
              <a:rPr lang="en-GB" dirty="0"/>
              <a:t>, C. Choy, B. Li, J. </a:t>
            </a:r>
            <a:r>
              <a:rPr lang="en-GB" dirty="0" err="1"/>
              <a:t>Kossaifi</a:t>
            </a:r>
            <a:r>
              <a:rPr lang="en-GB" dirty="0"/>
              <a:t>, S. P. </a:t>
            </a:r>
            <a:r>
              <a:rPr lang="en-GB" dirty="0" err="1"/>
              <a:t>Otta</a:t>
            </a:r>
            <a:r>
              <a:rPr lang="en-GB" dirty="0"/>
              <a:t>, M. A. </a:t>
            </a:r>
            <a:r>
              <a:rPr lang="en-GB" dirty="0" err="1"/>
              <a:t>Nabian</a:t>
            </a:r>
            <a:r>
              <a:rPr lang="en-GB" dirty="0"/>
              <a:t>, M. Stadler, C. Hundt, K. </a:t>
            </a:r>
            <a:r>
              <a:rPr lang="en-GB" dirty="0" err="1"/>
              <a:t>Azizzadenesheli</a:t>
            </a:r>
            <a:r>
              <a:rPr lang="en-GB" dirty="0"/>
              <a:t>, A. </a:t>
            </a:r>
            <a:r>
              <a:rPr lang="en-GB" dirty="0" err="1"/>
              <a:t>Anandkumar</a:t>
            </a:r>
            <a:r>
              <a:rPr lang="en-GB" dirty="0"/>
              <a:t>: Geometry-Informed Neural Operator for Large-Scale 3D PDEs. </a:t>
            </a:r>
            <a:r>
              <a:rPr lang="en-GB" dirty="0" err="1"/>
              <a:t>CoRR</a:t>
            </a:r>
            <a:r>
              <a:rPr lang="en-GB" dirty="0"/>
              <a:t> abs/2309.00583. 2023.</a:t>
            </a:r>
          </a:p>
          <a:p>
            <a:pPr marL="0" indent="0">
              <a:buNone/>
            </a:pPr>
            <a:r>
              <a:rPr lang="en-US" noProof="0" dirty="0"/>
              <a:t>[13] </a:t>
            </a:r>
            <a:r>
              <a:rPr lang="de-DE" dirty="0"/>
              <a:t>Y. Augenstein, T. </a:t>
            </a:r>
            <a:r>
              <a:rPr lang="de-DE" dirty="0" err="1"/>
              <a:t>Repän</a:t>
            </a:r>
            <a:r>
              <a:rPr lang="de-DE" dirty="0"/>
              <a:t>, C. Rockstuhl: </a:t>
            </a:r>
            <a:r>
              <a:rPr lang="de-DE" dirty="0" err="1"/>
              <a:t>Neural</a:t>
            </a:r>
            <a:r>
              <a:rPr lang="de-DE" dirty="0"/>
              <a:t> Operator-</a:t>
            </a:r>
            <a:r>
              <a:rPr lang="de-DE" dirty="0" err="1"/>
              <a:t>Based</a:t>
            </a:r>
            <a:r>
              <a:rPr lang="de-DE" dirty="0"/>
              <a:t> Surrogate Solver </a:t>
            </a:r>
            <a:r>
              <a:rPr lang="de-DE" dirty="0" err="1"/>
              <a:t>for</a:t>
            </a:r>
            <a:r>
              <a:rPr lang="de-DE" dirty="0"/>
              <a:t> Free-Form </a:t>
            </a:r>
            <a:r>
              <a:rPr lang="de-DE" dirty="0" err="1"/>
              <a:t>Electromagnetic</a:t>
            </a:r>
            <a:r>
              <a:rPr lang="de-DE" dirty="0"/>
              <a:t> Inverse Design. ACS </a:t>
            </a:r>
            <a:r>
              <a:rPr lang="de-DE" dirty="0" err="1"/>
              <a:t>Photonics</a:t>
            </a:r>
            <a:r>
              <a:rPr lang="de-DE" dirty="0"/>
              <a:t>, 10(5): 1547–1557. 2023. DOI: 10.1021/acsphotonics.3c00156.</a:t>
            </a:r>
            <a:endParaRPr lang="en-US" noProof="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5706708"/>
      </p:ext>
    </p:extLst>
  </p:cSld>
  <p:clrMapOvr>
    <a:masterClrMapping/>
  </p:clrMapOvr>
</p:sld>
</file>

<file path=ppt/theme/theme1.xml><?xml version="1.0" encoding="utf-8"?>
<a:theme xmlns:a="http://schemas.openxmlformats.org/drawingml/2006/main" name="P10_110616_ppt_Master_Ins_de_4zu3">
  <a:themeElements>
    <a:clrScheme name="Hyperion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Bullets">
      <a:majorFont>
        <a:latin typeface="Frutiger LT Com 45 Light"/>
        <a:ea typeface=""/>
        <a:cs typeface=""/>
      </a:majorFont>
      <a:minorFont>
        <a:latin typeface="Frutiger LT Com 55 Roman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=""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=""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=""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40000"/>
          </a:spcAft>
          <a:buClrTx/>
          <a:buSzTx/>
          <a:buFont typeface="Wingdings" pitchFamily="2" charset="2"/>
          <a:buNone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Frutiger LT Com 55 Roman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=""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=""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=""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40000"/>
          </a:spcAft>
          <a:buClrTx/>
          <a:buSzTx/>
          <a:buFont typeface="Wingdings" pitchFamily="2" charset="2"/>
          <a:buNone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Frutiger LT Com 55 Roman" pitchFamily="34" charset="0"/>
          </a:defRPr>
        </a:defPPr>
      </a:lstStyle>
    </a:lnDef>
  </a:objectDefaults>
  <a:extraClrSchemeLst>
    <a:extraClrScheme>
      <a:clrScheme name="Bulle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3">
        <a:dk1>
          <a:srgbClr val="000000"/>
        </a:dk1>
        <a:lt1>
          <a:srgbClr val="FFFFFF"/>
        </a:lt1>
        <a:dk2>
          <a:srgbClr val="000000"/>
        </a:dk2>
        <a:lt2>
          <a:srgbClr val="A8AFAF"/>
        </a:lt2>
        <a:accent1>
          <a:srgbClr val="009475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AAC8BD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14">
        <a:dk1>
          <a:srgbClr val="000000"/>
        </a:dk1>
        <a:lt1>
          <a:srgbClr val="FFFFFF"/>
        </a:lt1>
        <a:dk2>
          <a:srgbClr val="000000"/>
        </a:dk2>
        <a:lt2>
          <a:srgbClr val="A8AFAF"/>
        </a:lt2>
        <a:accent1>
          <a:srgbClr val="009475"/>
        </a:accent1>
        <a:accent2>
          <a:srgbClr val="009475"/>
        </a:accent2>
        <a:accent3>
          <a:srgbClr val="FFFFFF"/>
        </a:accent3>
        <a:accent4>
          <a:srgbClr val="000000"/>
        </a:accent4>
        <a:accent5>
          <a:srgbClr val="AAC8BD"/>
        </a:accent5>
        <a:accent6>
          <a:srgbClr val="008669"/>
        </a:accent6>
        <a:hlink>
          <a:srgbClr val="009475"/>
        </a:hlink>
        <a:folHlink>
          <a:srgbClr val="009475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15">
        <a:dk1>
          <a:srgbClr val="000000"/>
        </a:dk1>
        <a:lt1>
          <a:srgbClr val="FFFFFF"/>
        </a:lt1>
        <a:dk2>
          <a:srgbClr val="009475"/>
        </a:dk2>
        <a:lt2>
          <a:srgbClr val="A8AFAF"/>
        </a:lt2>
        <a:accent1>
          <a:srgbClr val="25BAE2"/>
        </a:accent1>
        <a:accent2>
          <a:srgbClr val="006E92"/>
        </a:accent2>
        <a:accent3>
          <a:srgbClr val="FFFFFF"/>
        </a:accent3>
        <a:accent4>
          <a:srgbClr val="000000"/>
        </a:accent4>
        <a:accent5>
          <a:srgbClr val="ACD9EE"/>
        </a:accent5>
        <a:accent6>
          <a:srgbClr val="006384"/>
        </a:accent6>
        <a:hlink>
          <a:srgbClr val="4C636F"/>
        </a:hlink>
        <a:folHlink>
          <a:srgbClr val="9E1C2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16">
        <a:dk1>
          <a:srgbClr val="000000"/>
        </a:dk1>
        <a:lt1>
          <a:srgbClr val="FFFFFF"/>
        </a:lt1>
        <a:dk2>
          <a:srgbClr val="009475"/>
        </a:dk2>
        <a:lt2>
          <a:srgbClr val="25BAE2"/>
        </a:lt2>
        <a:accent1>
          <a:srgbClr val="009475"/>
        </a:accent1>
        <a:accent2>
          <a:srgbClr val="006E92"/>
        </a:accent2>
        <a:accent3>
          <a:srgbClr val="FFFFFF"/>
        </a:accent3>
        <a:accent4>
          <a:srgbClr val="000000"/>
        </a:accent4>
        <a:accent5>
          <a:srgbClr val="AAC8BD"/>
        </a:accent5>
        <a:accent6>
          <a:srgbClr val="006384"/>
        </a:accent6>
        <a:hlink>
          <a:srgbClr val="4C636F"/>
        </a:hlink>
        <a:folHlink>
          <a:srgbClr val="9E1C2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eminar_template" id="{62C03DA9-0C08-4749-A17B-CE71DDE8DC81}" vid="{C6B6CC73-7B13-EE45-B952-F1F1953D43BA}"/>
    </a:ext>
  </a:extLst>
</a:theme>
</file>

<file path=ppt/theme/theme2.xml><?xml version="1.0" encoding="utf-8"?>
<a:theme xmlns:a="http://schemas.openxmlformats.org/drawingml/2006/main" name="Larissa">
  <a:themeElements>
    <a:clrScheme name="Fraunhofer Farbpalette">
      <a:dk1>
        <a:srgbClr val="000000"/>
      </a:dk1>
      <a:lt1>
        <a:srgbClr val="FFFFFF"/>
      </a:lt1>
      <a:dk2>
        <a:srgbClr val="179C7D"/>
      </a:dk2>
      <a:lt2>
        <a:srgbClr val="A8AFAF"/>
      </a:lt2>
      <a:accent1>
        <a:srgbClr val="EB6A0A"/>
      </a:accent1>
      <a:accent2>
        <a:srgbClr val="006E92"/>
      </a:accent2>
      <a:accent3>
        <a:srgbClr val="25BAE2"/>
      </a:accent3>
      <a:accent4>
        <a:srgbClr val="B1C800"/>
      </a:accent4>
      <a:accent5>
        <a:srgbClr val="FEEFD6"/>
      </a:accent5>
      <a:accent6>
        <a:srgbClr val="E1E3E3"/>
      </a:accent6>
      <a:hlink>
        <a:srgbClr val="25BAE2"/>
      </a:hlink>
      <a:folHlink>
        <a:srgbClr val="B1C8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P10_110616_ppt_Master_Ins_de_4zu3</Template>
  <TotalTime>0</TotalTime>
  <Words>1245</Words>
  <Application>Microsoft Office PowerPoint</Application>
  <PresentationFormat>Bildschirmpräsentation (4:3)</PresentationFormat>
  <Paragraphs>169</Paragraphs>
  <Slides>18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5" baseType="lpstr">
      <vt:lpstr>Arial Unicode MS</vt:lpstr>
      <vt:lpstr>Frutiger LT Com 45 Light</vt:lpstr>
      <vt:lpstr>Frutiger LT Com 55 Roman</vt:lpstr>
      <vt:lpstr>Arial</vt:lpstr>
      <vt:lpstr>Cambria Math</vt:lpstr>
      <vt:lpstr>Wingdings</vt:lpstr>
      <vt:lpstr>P10_110616_ppt_Master_Ins_de_4zu3</vt:lpstr>
      <vt:lpstr>Neural Operators A seminar presentation</vt:lpstr>
      <vt:lpstr>The goal of neural operators</vt:lpstr>
      <vt:lpstr>What's the problem? </vt:lpstr>
      <vt:lpstr>Operator learning  vs  Neural Networks</vt:lpstr>
      <vt:lpstr>What is an Operator</vt:lpstr>
      <vt:lpstr>That can‘t be all</vt:lpstr>
      <vt:lpstr>What are we actually interested in?</vt:lpstr>
      <vt:lpstr>Introducing neural operators</vt:lpstr>
      <vt:lpstr>What does G_θ look like?</vt:lpstr>
      <vt:lpstr>PowerPoint-Präsentation</vt:lpstr>
      <vt:lpstr>Architectures</vt:lpstr>
      <vt:lpstr>The Graph Neural Operator - GNO</vt:lpstr>
      <vt:lpstr>Fourier Neural Operator - FNO</vt:lpstr>
      <vt:lpstr>Geometry Informed Neural Operator - GINO</vt:lpstr>
      <vt:lpstr>Outlook – inverse design via Neural Operators</vt:lpstr>
      <vt:lpstr>Questions?</vt:lpstr>
      <vt:lpstr>References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</dc:title>
  <dc:creator>Tobias Feigl</dc:creator>
  <cp:lastModifiedBy>Alexander Luce</cp:lastModifiedBy>
  <cp:revision>36</cp:revision>
  <cp:lastPrinted>2014-12-05T14:28:32Z</cp:lastPrinted>
  <dcterms:created xsi:type="dcterms:W3CDTF">2019-01-06T10:45:11Z</dcterms:created>
  <dcterms:modified xsi:type="dcterms:W3CDTF">2025-03-08T16:20:17Z</dcterms:modified>
</cp:coreProperties>
</file>